
<file path=[Content_Types].xml><?xml version="1.0" encoding="utf-8"?>
<Types xmlns="http://schemas.openxmlformats.org/package/2006/content-types">
  <Default Extension="emf" ContentType="image/x-emf"/>
  <Default Extension="jpe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9"/>
  </p:notesMasterIdLst>
  <p:handoutMasterIdLst>
    <p:handoutMasterId r:id="rId40"/>
  </p:handoutMasterIdLst>
  <p:sldIdLst>
    <p:sldId id="303" r:id="rId2"/>
    <p:sldId id="596" r:id="rId3"/>
    <p:sldId id="406" r:id="rId4"/>
    <p:sldId id="326" r:id="rId5"/>
    <p:sldId id="569" r:id="rId6"/>
    <p:sldId id="571" r:id="rId7"/>
    <p:sldId id="302" r:id="rId8"/>
    <p:sldId id="597" r:id="rId9"/>
    <p:sldId id="598" r:id="rId10"/>
    <p:sldId id="311" r:id="rId11"/>
    <p:sldId id="313" r:id="rId12"/>
    <p:sldId id="314" r:id="rId13"/>
    <p:sldId id="599" r:id="rId14"/>
    <p:sldId id="258" r:id="rId15"/>
    <p:sldId id="348" r:id="rId16"/>
    <p:sldId id="264" r:id="rId17"/>
    <p:sldId id="328" r:id="rId18"/>
    <p:sldId id="329" r:id="rId19"/>
    <p:sldId id="600" r:id="rId20"/>
    <p:sldId id="601" r:id="rId21"/>
    <p:sldId id="331" r:id="rId22"/>
    <p:sldId id="332" r:id="rId23"/>
    <p:sldId id="586" r:id="rId24"/>
    <p:sldId id="593" r:id="rId25"/>
    <p:sldId id="335" r:id="rId26"/>
    <p:sldId id="336" r:id="rId27"/>
    <p:sldId id="337" r:id="rId28"/>
    <p:sldId id="338" r:id="rId29"/>
    <p:sldId id="340" r:id="rId30"/>
    <p:sldId id="341" r:id="rId31"/>
    <p:sldId id="351" r:id="rId32"/>
    <p:sldId id="352" r:id="rId33"/>
    <p:sldId id="595" r:id="rId34"/>
    <p:sldId id="573" r:id="rId35"/>
    <p:sldId id="541" r:id="rId36"/>
    <p:sldId id="492" r:id="rId37"/>
    <p:sldId id="60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8DD5"/>
    <a:srgbClr val="92B573"/>
    <a:srgbClr val="75B6E5"/>
    <a:srgbClr val="FF0000"/>
    <a:srgbClr val="8DB4E2"/>
    <a:srgbClr val="D3908F"/>
    <a:srgbClr val="E0524A"/>
    <a:srgbClr val="8DB4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88288"/>
  </p:normalViewPr>
  <p:slideViewPr>
    <p:cSldViewPr snapToGrid="0" snapToObjects="1">
      <p:cViewPr varScale="1">
        <p:scale>
          <a:sx n="111" d="100"/>
          <a:sy n="111" d="100"/>
        </p:scale>
        <p:origin x="1792" y="208"/>
      </p:cViewPr>
      <p:guideLst>
        <p:guide orient="horz" pos="2160"/>
        <p:guide pos="3840"/>
      </p:guideLst>
    </p:cSldViewPr>
  </p:slideViewPr>
  <p:notesTextViewPr>
    <p:cViewPr>
      <p:scale>
        <a:sx n="150" d="100"/>
        <a:sy n="150" d="100"/>
      </p:scale>
      <p:origin x="0" y="0"/>
    </p:cViewPr>
  </p:notesText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88389790-147C-7748-A8A1-65FAC8A20F72}" type="datetimeFigureOut">
              <a:rPr lang="en-US" smtClean="0"/>
              <a:t>7/7/26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48CB77B6-7185-9642-B594-FCD5D893C7A0}"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itchFamily="2" charset="2"/>
            </a:endParaRPr>
          </a:p>
        </p:txBody>
      </p:sp>
      <p:sp>
        <p:nvSpPr>
          <p:cNvPr id="4" name="Slide Number Placeholder 3"/>
          <p:cNvSpPr>
            <a:spLocks noGrp="1"/>
          </p:cNvSpPr>
          <p:nvPr>
            <p:ph type="sldNum" sz="quarter" idx="10"/>
          </p:nvPr>
        </p:nvSpPr>
        <p:spPr/>
        <p:txBody>
          <a:bodyPr/>
          <a:lstStyle/>
          <a:p>
            <a:fld id="{DD65BEC1-91A9-F040-80A2-A1EC33E8D6D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44291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a:t>
            </a:fld>
            <a:endParaRPr lang="en-US"/>
          </a:p>
        </p:txBody>
      </p:sp>
    </p:spTree>
    <p:extLst>
      <p:ext uri="{BB962C8B-B14F-4D97-AF65-F5344CB8AC3E}">
        <p14:creationId xmlns:p14="http://schemas.microsoft.com/office/powerpoint/2010/main" val="2648508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session we will continue our focus on transformation and introduce some tools for basic statistics and modeling also.</a:t>
            </a:r>
          </a:p>
        </p:txBody>
      </p:sp>
      <p:sp>
        <p:nvSpPr>
          <p:cNvPr id="4" name="Slide Number Placeholder 3"/>
          <p:cNvSpPr>
            <a:spLocks noGrp="1"/>
          </p:cNvSpPr>
          <p:nvPr>
            <p:ph type="sldNum" sz="quarter" idx="10"/>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4078793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The first</a:t>
            </a:r>
            <a:r>
              <a:rPr lang="en-US" baseline="0" dirty="0"/>
              <a:t> set of functions we will explore will be ones whose primary goal is to extracting the data of interest from a large and often messy pile of data.</a:t>
            </a:r>
          </a:p>
          <a:p>
            <a:pPr marL="85487" indent="0">
              <a:buNone/>
            </a:pPr>
            <a:endParaRPr lang="en-US" baseline="0" dirty="0"/>
          </a:p>
          <a:p>
            <a:pPr marL="85487"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Reducing a dataset to a narrow subset of columns and rows is often the first step in an analysis.</a:t>
            </a:r>
          </a:p>
        </p:txBody>
      </p:sp>
    </p:spTree>
    <p:extLst>
      <p:ext uri="{BB962C8B-B14F-4D97-AF65-F5344CB8AC3E}">
        <p14:creationId xmlns:p14="http://schemas.microsoft.com/office/powerpoint/2010/main" val="1423496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2136038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aseline="0" dirty="0">
                <a:sym typeface="Wingdings" panose="05000000000000000000" pitchFamily="2" charset="2"/>
              </a:rPr>
              <a:t>Relatively inefficient: we are typing </a:t>
            </a:r>
            <a:r>
              <a:rPr lang="en-US" baseline="0" dirty="0" err="1">
                <a:sym typeface="Wingdings" panose="05000000000000000000" pitchFamily="2" charset="2"/>
              </a:rPr>
              <a:t>tat_outliers</a:t>
            </a:r>
            <a:r>
              <a:rPr lang="en-US" baseline="0" dirty="0">
                <a:sym typeface="Wingdings" panose="05000000000000000000" pitchFamily="2" charset="2"/>
              </a:rPr>
              <a:t> over and over again</a:t>
            </a:r>
          </a:p>
        </p:txBody>
      </p:sp>
    </p:spTree>
    <p:extLst>
      <p:ext uri="{BB962C8B-B14F-4D97-AF65-F5344CB8AC3E}">
        <p14:creationId xmlns:p14="http://schemas.microsoft.com/office/powerpoint/2010/main" val="3192056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This is exactly what the pipe operator</a:t>
            </a:r>
            <a:r>
              <a:rPr lang="en-US" baseline="0" dirty="0"/>
              <a:t> does. </a:t>
            </a:r>
          </a:p>
          <a:p>
            <a:pPr marL="85487" indent="0">
              <a:buNone/>
            </a:pPr>
            <a:endParaRPr lang="en-US" baseline="0" dirty="0"/>
          </a:p>
          <a:p>
            <a:pPr marL="85487" indent="0">
              <a:buNone/>
            </a:pPr>
            <a:r>
              <a:rPr lang="en-US" baseline="0" dirty="0"/>
              <a:t>The pipe operator is this percent, greater than, percent symbol. It's a tool that we use to glue the pieces of our analysis together into one pipeline.</a:t>
            </a:r>
          </a:p>
          <a:p>
            <a:pPr marL="85487" indent="0">
              <a:buNone/>
            </a:pPr>
            <a:endParaRPr lang="en-US" baseline="0" dirty="0"/>
          </a:p>
          <a:p>
            <a:pPr marL="85487" indent="0">
              <a:buNone/>
            </a:pPr>
            <a:r>
              <a:rPr lang="en-US" baseline="0" dirty="0"/>
              <a:t>The pipe operator does something very simple but at the same time incredible useful. It takes the product of whatever is on the left and puts it into the function on the right. </a:t>
            </a:r>
          </a:p>
          <a:p>
            <a:pPr marL="85487" indent="0">
              <a:buNone/>
            </a:pPr>
            <a:endParaRPr lang="en-US" baseline="0" dirty="0"/>
          </a:p>
          <a:p>
            <a:pPr marL="85487" indent="0">
              <a:buNone/>
            </a:pPr>
            <a:r>
              <a:rPr lang="en-US" baseline="0" dirty="0"/>
              <a:t>So for example, the two lines of code in the gray box do exactly the same thing. </a:t>
            </a:r>
          </a:p>
          <a:p>
            <a:pPr marL="85487" indent="0">
              <a:buNone/>
            </a:pPr>
            <a:endParaRPr lang="en-US" baseline="0" dirty="0"/>
          </a:p>
          <a:p>
            <a:pPr marL="85487" indent="0">
              <a:buNone/>
            </a:pPr>
            <a:r>
              <a:rPr lang="en-US" baseline="0" dirty="0"/>
              <a:t>There are a whole bunch of reasons as to why this is a useful thing but for me, one of the most important reasons is that it turns computer code into something that is almost legible as human language. </a:t>
            </a:r>
          </a:p>
          <a:p>
            <a:pPr marL="85487" indent="0">
              <a:buNone/>
            </a:pPr>
            <a:endParaRPr lang="en-US" baseline="0" dirty="0"/>
          </a:p>
          <a:p>
            <a:pPr marL="85487" indent="0">
              <a:buNone/>
            </a:pPr>
            <a:r>
              <a:rPr lang="en-US" baseline="0" dirty="0"/>
              <a:t>You could essentially read the second line of code as “Take the </a:t>
            </a:r>
            <a:r>
              <a:rPr lang="en-US" baseline="0" dirty="0" err="1"/>
              <a:t>covid_testing</a:t>
            </a:r>
            <a:r>
              <a:rPr lang="en-US" baseline="0" dirty="0"/>
              <a:t> data frame, and then filter the </a:t>
            </a:r>
            <a:r>
              <a:rPr lang="en-US" baseline="0" dirty="0" err="1"/>
              <a:t>pan_day</a:t>
            </a:r>
            <a:r>
              <a:rPr lang="en-US" baseline="0" dirty="0"/>
              <a:t> column to rows that are less than or equal to 10.”</a:t>
            </a:r>
            <a:endParaRPr lang="en-US" dirty="0"/>
          </a:p>
        </p:txBody>
      </p:sp>
    </p:spTree>
    <p:extLst>
      <p:ext uri="{BB962C8B-B14F-4D97-AF65-F5344CB8AC3E}">
        <p14:creationId xmlns:p14="http://schemas.microsoft.com/office/powerpoint/2010/main" val="2578460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code here is far more succinct. It's essentially self describing since it’s written in a sequential,</a:t>
            </a:r>
            <a:r>
              <a:rPr lang="en-US" baseline="0" dirty="0"/>
              <a:t> essentially human readable format. </a:t>
            </a:r>
          </a:p>
          <a:p>
            <a:pPr marL="0" indent="0">
              <a:buNone/>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The pipe operator allows us to form chains that accomplish complicated data transformation operations but which are made up of very simple, self-contained, building blocks. So we're able to make something complex by joining together many simple elements that are easy to understand in isolation.</a:t>
            </a:r>
          </a:p>
          <a:p>
            <a:pPr marL="0" indent="0">
              <a:buNone/>
            </a:pPr>
            <a:endParaRPr lang="en-US" baseline="0" dirty="0"/>
          </a:p>
          <a:p>
            <a:pPr marL="0" indent="0">
              <a:buNone/>
            </a:pPr>
            <a:r>
              <a:rPr lang="en-US" baseline="0" dirty="0"/>
              <a:t>An additional benefit is that it makes it easier to actually write code because it's much easier to translate our thoughts into an analytical pipeline. </a:t>
            </a:r>
          </a:p>
        </p:txBody>
      </p:sp>
    </p:spTree>
    <p:extLst>
      <p:ext uri="{BB962C8B-B14F-4D97-AF65-F5344CB8AC3E}">
        <p14:creationId xmlns:p14="http://schemas.microsoft.com/office/powerpoint/2010/main" val="1755690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This pipe operator</a:t>
            </a:r>
            <a:r>
              <a:rPr lang="en-US" baseline="0" dirty="0"/>
              <a:t> is going to be so useful to you </a:t>
            </a:r>
            <a:r>
              <a:rPr lang="en-US" baseline="0" dirty="0" err="1"/>
              <a:t>you</a:t>
            </a:r>
            <a:r>
              <a:rPr lang="en-US" baseline="0" dirty="0"/>
              <a:t> might as well learning a shortcut key that will type it out for you.</a:t>
            </a:r>
          </a:p>
          <a:p>
            <a:pPr marL="158750" indent="0">
              <a:buNone/>
            </a:pPr>
            <a:endParaRPr lang="en-US" baseline="0" dirty="0"/>
          </a:p>
          <a:p>
            <a:pPr marL="158750" indent="0">
              <a:buNone/>
            </a:pPr>
            <a:r>
              <a:rPr lang="en-US" baseline="0" dirty="0"/>
              <a:t>You can use either command, shift M on a mac or Ctrl shift M on a PC to save your fingers a few inches of movement.</a:t>
            </a:r>
            <a:endParaRPr lang="en-US" dirty="0"/>
          </a:p>
        </p:txBody>
      </p:sp>
    </p:spTree>
    <p:extLst>
      <p:ext uri="{BB962C8B-B14F-4D97-AF65-F5344CB8AC3E}">
        <p14:creationId xmlns:p14="http://schemas.microsoft.com/office/powerpoint/2010/main" val="3287606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introducing the concept of summarizing with with Summarize() function.</a:t>
            </a:r>
          </a:p>
        </p:txBody>
      </p:sp>
      <p:sp>
        <p:nvSpPr>
          <p:cNvPr id="4" name="Slide Number Placeholder 3"/>
          <p:cNvSpPr>
            <a:spLocks noGrp="1"/>
          </p:cNvSpPr>
          <p:nvPr>
            <p:ph type="sldNum" sz="quarter" idx="5"/>
          </p:nvPr>
        </p:nvSpPr>
        <p:spPr/>
        <p:txBody>
          <a:bodyPr/>
          <a:lstStyle/>
          <a:p>
            <a:fld id="{0A193586-FEB5-7C43-8F44-7EFAE4EECA28}" type="slidenum">
              <a:rPr lang="en-US" smtClean="0"/>
              <a:t>14</a:t>
            </a:fld>
            <a:endParaRPr lang="en-US"/>
          </a:p>
        </p:txBody>
      </p:sp>
    </p:spTree>
    <p:extLst>
      <p:ext uri="{BB962C8B-B14F-4D97-AF65-F5344CB8AC3E}">
        <p14:creationId xmlns:p14="http://schemas.microsoft.com/office/powerpoint/2010/main" val="1322844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straightforward and practical question that we might ask of our data set.</a:t>
            </a:r>
          </a:p>
          <a:p>
            <a:endParaRPr lang="en-US" dirty="0"/>
          </a:p>
          <a:p>
            <a:r>
              <a:rPr lang="en-US" dirty="0"/>
              <a:t>What is the average sodium value</a:t>
            </a:r>
          </a:p>
          <a:p>
            <a:endParaRPr lang="en-US" dirty="0"/>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15</a:t>
            </a:fld>
            <a:endParaRPr lang="en-US"/>
          </a:p>
        </p:txBody>
      </p:sp>
    </p:spTree>
    <p:extLst>
      <p:ext uri="{BB962C8B-B14F-4D97-AF65-F5344CB8AC3E}">
        <p14:creationId xmlns:p14="http://schemas.microsoft.com/office/powerpoint/2010/main" val="1871288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Summarize allows us to take a variable (column) of data and apply a function</a:t>
            </a:r>
            <a:r>
              <a:rPr lang="en-US" baseline="0" dirty="0"/>
              <a:t> (or functions)</a:t>
            </a:r>
            <a:r>
              <a:rPr lang="en-US" dirty="0"/>
              <a:t> to all observations.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Using summarize we can return a single value, or summary.</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2394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make summaries of our data we use the following code construct.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pass a data set using pipes to the summarize function.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Within the summarize function we provide a variable name and set it to a calculation or value that we define.</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7090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Let’s look at a simple example using summarize() to count the number of orders in a data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Note, that to simplify the data frame, we first will select 2 variables and include the first 4 observations.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a:t>
            </a:r>
            <a:r>
              <a:rPr lang="en-US" baseline="0" dirty="0"/>
              <a:t> returns the number of observations or rows for a data frame.</a:t>
            </a:r>
          </a:p>
          <a:p>
            <a:pPr marL="0" lvl="0" indent="0" algn="l" rtl="0">
              <a:spcBef>
                <a:spcPts val="0"/>
              </a:spcBef>
              <a:spcAft>
                <a:spcPts val="0"/>
              </a:spcAft>
              <a:buNone/>
            </a:pPr>
            <a:endParaRPr lang="en-US" baseline="0"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753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Let’s look at a simple example using summarize() to count the number of orders in a data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Note, that to simplify the data frame, we first will select 2 variables and include the first 4 observations.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a:t>
            </a:r>
            <a:r>
              <a:rPr lang="en-US" baseline="0" dirty="0"/>
              <a:t> returns the number of observations or rows for a data frame.</a:t>
            </a:r>
          </a:p>
          <a:p>
            <a:pPr marL="0" lvl="0" indent="0" algn="l" rtl="0">
              <a:spcBef>
                <a:spcPts val="0"/>
              </a:spcBef>
              <a:spcAft>
                <a:spcPts val="0"/>
              </a:spcAft>
              <a:buNone/>
            </a:pPr>
            <a:endParaRPr lang="en-US" baseline="0"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1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a:t>
            </a:r>
            <a:r>
              <a:rPr lang="en-US" baseline="0" dirty="0"/>
              <a:t> many different summary functions.</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20</a:t>
            </a:fld>
            <a:endParaRPr lang="en-US"/>
          </a:p>
        </p:txBody>
      </p:sp>
    </p:spTree>
    <p:extLst>
      <p:ext uri="{BB962C8B-B14F-4D97-AF65-F5344CB8AC3E}">
        <p14:creationId xmlns:p14="http://schemas.microsoft.com/office/powerpoint/2010/main" val="4166830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mins</a:t>
            </a:r>
          </a:p>
        </p:txBody>
      </p:sp>
      <p:sp>
        <p:nvSpPr>
          <p:cNvPr id="4" name="Slide Number Placeholder 3"/>
          <p:cNvSpPr>
            <a:spLocks noGrp="1"/>
          </p:cNvSpPr>
          <p:nvPr>
            <p:ph type="sldNum" sz="quarter" idx="5"/>
          </p:nvPr>
        </p:nvSpPr>
        <p:spPr/>
        <p:txBody>
          <a:bodyPr/>
          <a:lstStyle/>
          <a:p>
            <a:fld id="{0A193586-FEB5-7C43-8F44-7EFAE4EECA28}" type="slidenum">
              <a:rPr lang="en-US" smtClean="0"/>
              <a:t>21</a:t>
            </a:fld>
            <a:endParaRPr lang="en-US"/>
          </a:p>
        </p:txBody>
      </p:sp>
    </p:spTree>
    <p:extLst>
      <p:ext uri="{BB962C8B-B14F-4D97-AF65-F5344CB8AC3E}">
        <p14:creationId xmlns:p14="http://schemas.microsoft.com/office/powerpoint/2010/main" val="647534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a:t>
            </a:r>
            <a:r>
              <a:rPr lang="en-US" baseline="0" dirty="0"/>
              <a:t> many different summary functions.</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22</a:t>
            </a:fld>
            <a:endParaRPr lang="en-US"/>
          </a:p>
        </p:txBody>
      </p:sp>
    </p:spTree>
    <p:extLst>
      <p:ext uri="{BB962C8B-B14F-4D97-AF65-F5344CB8AC3E}">
        <p14:creationId xmlns:p14="http://schemas.microsoft.com/office/powerpoint/2010/main" val="290935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baseline="0" dirty="0"/>
              <a:t>To answer this question we need to be able to group data.</a:t>
            </a:r>
            <a:endParaRPr lang="en-US" dirty="0"/>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25</a:t>
            </a:fld>
            <a:endParaRPr lang="en-US"/>
          </a:p>
        </p:txBody>
      </p:sp>
    </p:spTree>
    <p:extLst>
      <p:ext uri="{BB962C8B-B14F-4D97-AF65-F5344CB8AC3E}">
        <p14:creationId xmlns:p14="http://schemas.microsoft.com/office/powerpoint/2010/main" val="12346557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Group_by</a:t>
            </a:r>
            <a:r>
              <a:rPr lang="en-US" dirty="0"/>
              <a:t> is a challenging</a:t>
            </a:r>
            <a:r>
              <a:rPr lang="en-US" baseline="0" dirty="0"/>
              <a:t> function to master, but </a:t>
            </a:r>
            <a:r>
              <a:rPr lang="en-US" b="1" baseline="0" dirty="0"/>
              <a:t>extremely</a:t>
            </a:r>
            <a:r>
              <a:rPr lang="en-US" baseline="0" dirty="0"/>
              <a:t> powerful. It is one of those tools that once you understand how to use, you cannot possibly go back to live without it.</a:t>
            </a:r>
          </a:p>
          <a:p>
            <a:endParaRPr lang="en-US" baseline="0" dirty="0"/>
          </a:p>
          <a:p>
            <a:r>
              <a:rPr lang="en-US" baseline="0" dirty="0" err="1"/>
              <a:t>Group_by</a:t>
            </a:r>
            <a:r>
              <a:rPr lang="en-US" baseline="0" dirty="0"/>
              <a:t> allows us to take a data frame and break the observations up into several groups.</a:t>
            </a:r>
          </a:p>
          <a:p>
            <a:endParaRPr lang="en-US" baseline="0" dirty="0"/>
          </a:p>
          <a:p>
            <a:r>
              <a:rPr lang="en-US" baseline="0" dirty="0"/>
              <a:t>Then we can “look” at those groups separately.</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26</a:t>
            </a:fld>
            <a:endParaRPr lang="en-US"/>
          </a:p>
        </p:txBody>
      </p:sp>
    </p:spTree>
    <p:extLst>
      <p:ext uri="{BB962C8B-B14F-4D97-AF65-F5344CB8AC3E}">
        <p14:creationId xmlns:p14="http://schemas.microsoft.com/office/powerpoint/2010/main" val="1050883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code construct for grouping.</a:t>
            </a:r>
          </a:p>
          <a:p>
            <a:endParaRPr lang="en-US" dirty="0"/>
          </a:p>
          <a:p>
            <a:r>
              <a:rPr lang="en-US" dirty="0"/>
              <a:t>We pass a data set using pipes to the </a:t>
            </a:r>
            <a:r>
              <a:rPr lang="en-US" dirty="0" err="1"/>
              <a:t>group_by</a:t>
            </a:r>
            <a:r>
              <a:rPr lang="en-US" dirty="0"/>
              <a:t>() function.</a:t>
            </a:r>
          </a:p>
          <a:p>
            <a:endParaRPr lang="en-US" dirty="0"/>
          </a:p>
          <a:p>
            <a:r>
              <a:rPr lang="en-US" dirty="0"/>
              <a:t>Then we specify the variable that we want to define groups.</a:t>
            </a:r>
          </a:p>
        </p:txBody>
      </p:sp>
      <p:sp>
        <p:nvSpPr>
          <p:cNvPr id="4" name="Slide Number Placeholder 3"/>
          <p:cNvSpPr>
            <a:spLocks noGrp="1"/>
          </p:cNvSpPr>
          <p:nvPr>
            <p:ph type="sldNum" sz="quarter" idx="10"/>
          </p:nvPr>
        </p:nvSpPr>
        <p:spPr/>
        <p:txBody>
          <a:bodyPr/>
          <a:lstStyle/>
          <a:p>
            <a:fld id="{0A193586-FEB5-7C43-8F44-7EFAE4EECA28}" type="slidenum">
              <a:rPr lang="en-US" smtClean="0"/>
              <a:t>27</a:t>
            </a:fld>
            <a:endParaRPr lang="en-US"/>
          </a:p>
        </p:txBody>
      </p:sp>
    </p:spTree>
    <p:extLst>
      <p:ext uri="{BB962C8B-B14F-4D97-AF65-F5344CB8AC3E}">
        <p14:creationId xmlns:p14="http://schemas.microsoft.com/office/powerpoint/2010/main" val="3525043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 example of grouping by </a:t>
            </a:r>
            <a:r>
              <a:rPr lang="en-US" dirty="0" err="1"/>
              <a:t>pan_day</a:t>
            </a:r>
            <a:r>
              <a:rPr lang="en-US" dirty="0"/>
              <a:t>.</a:t>
            </a:r>
          </a:p>
          <a:p>
            <a:endParaRPr lang="en-US" dirty="0"/>
          </a:p>
          <a:p>
            <a:r>
              <a:rPr lang="en-US" dirty="0"/>
              <a:t>We can see that the resulting object</a:t>
            </a:r>
            <a:r>
              <a:rPr lang="en-US" baseline="0" dirty="0"/>
              <a:t> has 15,524 rows that are broken up into 102 groups. </a:t>
            </a:r>
          </a:p>
          <a:p>
            <a:endParaRPr lang="en-US" baseline="0" dirty="0"/>
          </a:p>
          <a:p>
            <a:r>
              <a:rPr lang="en-US" baseline="0" dirty="0"/>
              <a:t>This means there are 102 distinct `</a:t>
            </a:r>
            <a:r>
              <a:rPr lang="en-US" baseline="0" dirty="0" err="1"/>
              <a:t>pan_day`’s</a:t>
            </a:r>
            <a:r>
              <a:rPr lang="en-US" baseline="0" dirty="0"/>
              <a:t>. </a:t>
            </a:r>
          </a:p>
          <a:p>
            <a:endParaRPr lang="en-US" baseline="0" dirty="0"/>
          </a:p>
          <a:p>
            <a:r>
              <a:rPr lang="en-US" baseline="0" dirty="0"/>
              <a:t>Some of these groups will have a single observation. Many of these groups will have more than one observation.</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28</a:t>
            </a:fld>
            <a:endParaRPr lang="en-US"/>
          </a:p>
        </p:txBody>
      </p:sp>
    </p:spTree>
    <p:extLst>
      <p:ext uri="{BB962C8B-B14F-4D97-AF65-F5344CB8AC3E}">
        <p14:creationId xmlns:p14="http://schemas.microsoft.com/office/powerpoint/2010/main" val="37614081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we can apply </a:t>
            </a:r>
            <a:r>
              <a:rPr lang="en-US" i="1" dirty="0"/>
              <a:t>summarize()</a:t>
            </a:r>
            <a:r>
              <a:rPr lang="en-US" dirty="0"/>
              <a:t> to a full data</a:t>
            </a:r>
            <a:r>
              <a:rPr lang="en-US" baseline="0" dirty="0"/>
              <a:t> frame, we can apply </a:t>
            </a:r>
            <a:r>
              <a:rPr lang="en-US" i="1" baseline="0" dirty="0"/>
              <a:t>summarize()</a:t>
            </a:r>
            <a:r>
              <a:rPr lang="en-US" i="0" baseline="0" dirty="0"/>
              <a:t> to each group separately.</a:t>
            </a:r>
          </a:p>
          <a:p>
            <a:endParaRPr lang="en-US" i="0" baseline="0" dirty="0"/>
          </a:p>
          <a:p>
            <a:r>
              <a:rPr lang="en-US" i="0" baseline="0" dirty="0"/>
              <a:t>The combination of </a:t>
            </a:r>
            <a:r>
              <a:rPr lang="en-US" i="0" baseline="0" dirty="0" err="1"/>
              <a:t>group_by</a:t>
            </a:r>
            <a:r>
              <a:rPr lang="en-US" i="0" baseline="0" dirty="0"/>
              <a:t>() and summarize() is extremely powerful.</a:t>
            </a:r>
            <a:endParaRPr lang="en-US" i="0" dirty="0"/>
          </a:p>
        </p:txBody>
      </p:sp>
      <p:sp>
        <p:nvSpPr>
          <p:cNvPr id="4" name="Slide Number Placeholder 3"/>
          <p:cNvSpPr>
            <a:spLocks noGrp="1"/>
          </p:cNvSpPr>
          <p:nvPr>
            <p:ph type="sldNum" sz="quarter" idx="10"/>
          </p:nvPr>
        </p:nvSpPr>
        <p:spPr/>
        <p:txBody>
          <a:bodyPr/>
          <a:lstStyle/>
          <a:p>
            <a:fld id="{0A193586-FEB5-7C43-8F44-7EFAE4EECA28}" type="slidenum">
              <a:rPr lang="en-US" smtClean="0"/>
              <a:t>30</a:t>
            </a:fld>
            <a:endParaRPr lang="en-US"/>
          </a:p>
        </p:txBody>
      </p:sp>
    </p:spTree>
    <p:extLst>
      <p:ext uri="{BB962C8B-B14F-4D97-AF65-F5344CB8AC3E}">
        <p14:creationId xmlns:p14="http://schemas.microsoft.com/office/powerpoint/2010/main" val="1672126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Using summarize() without </a:t>
            </a:r>
            <a:r>
              <a:rPr lang="en-US" dirty="0" err="1"/>
              <a:t>group_by</a:t>
            </a:r>
            <a:r>
              <a:rPr lang="en-US" dirty="0"/>
              <a:t>() we can count how many total rows there are.</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0920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Adding </a:t>
            </a:r>
            <a:r>
              <a:rPr lang="en-US" dirty="0" err="1"/>
              <a:t>group_by</a:t>
            </a:r>
            <a:r>
              <a:rPr lang="en-US" dirty="0"/>
              <a:t>(), we count how many rows there are for each `</a:t>
            </a:r>
            <a:r>
              <a:rPr lang="en-US" dirty="0" err="1"/>
              <a:t>pan_day</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the data that underlies the figure we looked at in slide 6.</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57147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33</a:t>
            </a:fld>
            <a:endParaRPr lang="en-US"/>
          </a:p>
        </p:txBody>
      </p:sp>
    </p:spTree>
    <p:extLst>
      <p:ext uri="{BB962C8B-B14F-4D97-AF65-F5344CB8AC3E}">
        <p14:creationId xmlns:p14="http://schemas.microsoft.com/office/powerpoint/2010/main" val="3694842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193586-FEB5-7C43-8F44-7EFAE4EECA28}" type="slidenum">
              <a:rPr lang="en-US" smtClean="0"/>
              <a:t>34</a:t>
            </a:fld>
            <a:endParaRPr lang="en-US"/>
          </a:p>
        </p:txBody>
      </p:sp>
    </p:spTree>
    <p:extLst>
      <p:ext uri="{BB962C8B-B14F-4D97-AF65-F5344CB8AC3E}">
        <p14:creationId xmlns:p14="http://schemas.microsoft.com/office/powerpoint/2010/main" val="40307036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35</a:t>
            </a:fld>
            <a:endParaRPr lang="en-US"/>
          </a:p>
        </p:txBody>
      </p:sp>
    </p:spTree>
    <p:extLst>
      <p:ext uri="{BB962C8B-B14F-4D97-AF65-F5344CB8AC3E}">
        <p14:creationId xmlns:p14="http://schemas.microsoft.com/office/powerpoint/2010/main" val="21557267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dplyr</a:t>
            </a:r>
            <a:r>
              <a:rPr lang="en-US" dirty="0"/>
              <a:t> cheat sheet helps with the grammar of transforming data including functions functions grouping and summarizing data.</a:t>
            </a:r>
          </a:p>
          <a:p>
            <a:endParaRPr lang="en-US" dirty="0"/>
          </a:p>
          <a:p>
            <a:r>
              <a:rPr lang="en-US" dirty="0"/>
              <a:t>The </a:t>
            </a:r>
            <a:r>
              <a:rPr lang="en-US" dirty="0" err="1"/>
              <a:t>dplyr</a:t>
            </a:r>
            <a:r>
              <a:rPr lang="en-US" dirty="0"/>
              <a:t> cheat sheet is available on the RStudio website.</a:t>
            </a:r>
          </a:p>
        </p:txBody>
      </p:sp>
      <p:sp>
        <p:nvSpPr>
          <p:cNvPr id="4" name="Slide Number Placeholder 3"/>
          <p:cNvSpPr>
            <a:spLocks noGrp="1"/>
          </p:cNvSpPr>
          <p:nvPr>
            <p:ph type="sldNum" sz="quarter" idx="10"/>
          </p:nvPr>
        </p:nvSpPr>
        <p:spPr/>
        <p:txBody>
          <a:bodyPr/>
          <a:lstStyle/>
          <a:p>
            <a:fld id="{0A193586-FEB5-7C43-8F44-7EFAE4EECA28}" type="slidenum">
              <a:rPr lang="en-US" smtClean="0"/>
              <a:t>36</a:t>
            </a:fld>
            <a:endParaRPr lang="en-US"/>
          </a:p>
        </p:txBody>
      </p:sp>
    </p:spTree>
    <p:extLst>
      <p:ext uri="{BB962C8B-B14F-4D97-AF65-F5344CB8AC3E}">
        <p14:creationId xmlns:p14="http://schemas.microsoft.com/office/powerpoint/2010/main" val="1949317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37</a:t>
            </a:fld>
            <a:endParaRPr lang="en-US"/>
          </a:p>
        </p:txBody>
      </p:sp>
    </p:spTree>
    <p:extLst>
      <p:ext uri="{BB962C8B-B14F-4D97-AF65-F5344CB8AC3E}">
        <p14:creationId xmlns:p14="http://schemas.microsoft.com/office/powerpoint/2010/main" val="4206530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84CD6EC9-350B-7044-B5F0-8DCF21610B34}"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lvl1pPr>
              <a:defRPr sz="1200"/>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42AE76-ADD2-C54F-A619-039722557B09}"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6EF16A-3B61-9E4F-9E1F-EB5DF7E46F00}"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A15ECA-FE03-EB4F-9287-38F194A60F5A}"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440FEB-939C-6D4F-AA90-A288EC45062B}"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E799EA-DDAD-854E-A05A-18B120B5A289}"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F81D07-0F0E-C944-8AC9-C81607AC64B5}"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3F2FA98B-EA5F-714E-A794-F1873AF6F273}"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21A48A3E-C0E7-224D-8307-E096DE5D56AC}"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AC7F2C-1188-B142-BB61-171D61203300}"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lvl1pPr>
              <a:defRPr sz="1200"/>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B80074-8971-E04D-9BC0-BE45F9FDAB75}"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8EB8C1-84C2-8646-8732-51338E926D44}"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F1DE77-30E9-3F4D-BBA5-9B6AB79190B6}"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3E7EBE-1DB2-E74E-9C44-79AC52ED10C9}"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597825" y="614555"/>
            <a:ext cx="2996437" cy="777536"/>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sz="4420" b="0" i="0">
                <a:solidFill>
                  <a:srgbClr val="00549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145280" y="6377941"/>
            <a:ext cx="3901372" cy="342964"/>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609600" y="6377941"/>
            <a:ext cx="2804134" cy="342964"/>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24838CF-CBF1-4447-82E7-DAC39F50D634}" type="datetime1">
              <a:rPr lang="en-US" smtClean="0"/>
              <a:t>7/7/26</a:t>
            </a:fld>
            <a:endParaRPr/>
          </a:p>
        </p:txBody>
      </p:sp>
      <p:sp>
        <p:nvSpPr>
          <p:cNvPr id="27" name="Google Shape;27;p4"/>
          <p:cNvSpPr txBox="1">
            <a:spLocks noGrp="1"/>
          </p:cNvSpPr>
          <p:nvPr>
            <p:ph type="sldNum" idx="12"/>
          </p:nvPr>
        </p:nvSpPr>
        <p:spPr>
          <a:xfrm>
            <a:off x="8778241" y="6377941"/>
            <a:ext cx="2804134" cy="342964"/>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05448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1_Blank">
    <p:spTree>
      <p:nvGrpSpPr>
        <p:cNvPr id="1" name="Shape 28"/>
        <p:cNvGrpSpPr/>
        <p:nvPr/>
      </p:nvGrpSpPr>
      <p:grpSpPr>
        <a:xfrm>
          <a:off x="0" y="0"/>
          <a:ext cx="0" cy="0"/>
          <a:chOff x="0" y="0"/>
          <a:chExt cx="0" cy="0"/>
        </a:xfrm>
      </p:grpSpPr>
      <p:sp>
        <p:nvSpPr>
          <p:cNvPr id="29" name="Google Shape;29;p5"/>
          <p:cNvSpPr txBox="1">
            <a:spLocks noGrp="1"/>
          </p:cNvSpPr>
          <p:nvPr>
            <p:ph type="ftr" idx="11"/>
          </p:nvPr>
        </p:nvSpPr>
        <p:spPr>
          <a:xfrm>
            <a:off x="4145280" y="6377941"/>
            <a:ext cx="3901372" cy="342964"/>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
          <p:cNvSpPr txBox="1">
            <a:spLocks noGrp="1"/>
          </p:cNvSpPr>
          <p:nvPr>
            <p:ph type="dt" idx="10"/>
          </p:nvPr>
        </p:nvSpPr>
        <p:spPr>
          <a:xfrm>
            <a:off x="609600" y="6377941"/>
            <a:ext cx="2804134" cy="342964"/>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F33664DC-9917-D640-9945-1A214E394308}" type="datetime1">
              <a:rPr lang="en-US" smtClean="0"/>
              <a:t>7/7/26</a:t>
            </a:fld>
            <a:endParaRPr/>
          </a:p>
        </p:txBody>
      </p:sp>
      <p:sp>
        <p:nvSpPr>
          <p:cNvPr id="31" name="Google Shape;31;p5"/>
          <p:cNvSpPr txBox="1">
            <a:spLocks noGrp="1"/>
          </p:cNvSpPr>
          <p:nvPr>
            <p:ph type="sldNum" idx="12"/>
          </p:nvPr>
        </p:nvSpPr>
        <p:spPr>
          <a:xfrm>
            <a:off x="8778241" y="6377941"/>
            <a:ext cx="2804134" cy="342964"/>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23820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19A642-2C89-DA4A-A5A6-140F44AFA833}" type="datetime1">
              <a:rPr lang="en-US" smtClean="0">
                <a:solidFill>
                  <a:prstClr val="black">
                    <a:lumMod val="95000"/>
                    <a:lumOff val="5000"/>
                  </a:prstClr>
                </a:solidFill>
              </a:rPr>
              <a:t>7/7/26</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68" r:id="rId12"/>
    <p:sldLayoutId id="2147483669" r:id="rId13"/>
    <p:sldLayoutId id="2147483670" r:id="rId14"/>
    <p:sldLayoutId id="2147483671" r:id="rId15"/>
    <p:sldLayoutId id="2147483672" r:id="rId16"/>
    <p:sldLayoutId id="2147483677" r:id="rId17"/>
    <p:sldLayoutId id="2147483678" r:id="rId18"/>
  </p:sldLayoutIdLst>
  <p:hf hdr="0" ftr="0" dt="0"/>
  <p:txStyles>
    <p:titleStyle>
      <a:lvl1pPr algn="l" defTabSz="914400" rtl="0" eaLnBrk="1" latinLnBrk="0" hangingPunct="1">
        <a:lnSpc>
          <a:spcPct val="80000"/>
        </a:lnSpc>
        <a:spcBef>
          <a:spcPct val="0"/>
        </a:spcBef>
        <a:buNone/>
        <a:defRPr sz="5000" kern="1200" cap="none"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4291" y="4960137"/>
            <a:ext cx="8963891" cy="1463040"/>
          </a:xfrm>
        </p:spPr>
        <p:txBody>
          <a:bodyPr>
            <a:normAutofit/>
          </a:bodyPr>
          <a:lstStyle/>
          <a:p>
            <a:r>
              <a:rPr lang="en-US" sz="4400" b="1" dirty="0"/>
              <a:t>Grouping and Summarizing Data</a:t>
            </a:r>
          </a:p>
        </p:txBody>
      </p:sp>
      <p:sp>
        <p:nvSpPr>
          <p:cNvPr id="3" name="Subtitle 2"/>
          <p:cNvSpPr>
            <a:spLocks noGrp="1"/>
          </p:cNvSpPr>
          <p:nvPr>
            <p:ph type="subTitle" idx="1"/>
          </p:nvPr>
        </p:nvSpPr>
        <p:spPr>
          <a:xfrm>
            <a:off x="8610599" y="4804013"/>
            <a:ext cx="3467669" cy="1673756"/>
          </a:xfrm>
        </p:spPr>
        <p:txBody>
          <a:bodyPr>
            <a:normAutofit/>
          </a:bodyPr>
          <a:lstStyle/>
          <a:p>
            <a:r>
              <a:rPr lang="en-US" sz="3200" dirty="0"/>
              <a:t>Patrick Mathias</a:t>
            </a:r>
          </a:p>
          <a:p>
            <a:r>
              <a:rPr lang="en-US" sz="3200" dirty="0"/>
              <a:t>Lab Medicine Core</a:t>
            </a:r>
          </a:p>
        </p:txBody>
      </p:sp>
    </p:spTree>
    <p:extLst>
      <p:ext uri="{BB962C8B-B14F-4D97-AF65-F5344CB8AC3E}">
        <p14:creationId xmlns:p14="http://schemas.microsoft.com/office/powerpoint/2010/main" val="76774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9713-5501-81FC-18BD-FA473CE863FB}"/>
              </a:ext>
            </a:extLst>
          </p:cNvPr>
          <p:cNvSpPr>
            <a:spLocks noGrp="1"/>
          </p:cNvSpPr>
          <p:nvPr>
            <p:ph type="title"/>
          </p:nvPr>
        </p:nvSpPr>
        <p:spPr>
          <a:xfrm>
            <a:off x="1012977" y="267629"/>
            <a:ext cx="9720072" cy="1499616"/>
          </a:xfrm>
        </p:spPr>
        <p:txBody>
          <a:bodyPr/>
          <a:lstStyle/>
          <a:p>
            <a:r>
              <a:rPr lang="en-US" dirty="0"/>
              <a:t>Lesson Prep</a:t>
            </a:r>
          </a:p>
        </p:txBody>
      </p:sp>
      <p:sp>
        <p:nvSpPr>
          <p:cNvPr id="3" name="Text Placeholder 2">
            <a:extLst>
              <a:ext uri="{FF2B5EF4-FFF2-40B4-BE49-F238E27FC236}">
                <a16:creationId xmlns:a16="http://schemas.microsoft.com/office/drawing/2014/main" id="{39A9551F-ACD4-D04B-B1D9-EE3A20CDA09E}"/>
              </a:ext>
            </a:extLst>
          </p:cNvPr>
          <p:cNvSpPr>
            <a:spLocks noGrp="1"/>
          </p:cNvSpPr>
          <p:nvPr>
            <p:ph type="body" sz="quarter" idx="13"/>
          </p:nvPr>
        </p:nvSpPr>
        <p:spPr>
          <a:xfrm>
            <a:off x="3233854" y="1767245"/>
            <a:ext cx="8798312" cy="4619625"/>
          </a:xfrm>
        </p:spPr>
        <p:txBody>
          <a:bodyPr>
            <a:normAutofit fontScale="92500" lnSpcReduction="10000"/>
          </a:bodyPr>
          <a:lstStyle/>
          <a:p>
            <a:pPr marL="914400" indent="-914400">
              <a:buFont typeface="+mj-lt"/>
              <a:buAutoNum type="arabicPeriod"/>
            </a:pPr>
            <a:r>
              <a:rPr lang="en-US" dirty="0"/>
              <a:t>Locate the “06 – Group and Summarize” </a:t>
            </a:r>
            <a:r>
              <a:rPr lang="en-US" dirty="0" err="1"/>
              <a:t>qmd</a:t>
            </a:r>
            <a:r>
              <a:rPr lang="en-US" dirty="0"/>
              <a:t> file on the course website.</a:t>
            </a:r>
          </a:p>
          <a:p>
            <a:pPr marL="914400" indent="-914400">
              <a:buFont typeface="+mj-lt"/>
              <a:buAutoNum type="arabicPeriod"/>
            </a:pPr>
            <a:r>
              <a:rPr lang="en-US" dirty="0"/>
              <a:t>Navigate to the file and use the menu on the top right to download.</a:t>
            </a:r>
          </a:p>
          <a:p>
            <a:pPr marL="914400" indent="-914400">
              <a:buFont typeface="+mj-lt"/>
              <a:buAutoNum type="arabicPeriod"/>
            </a:pPr>
            <a:r>
              <a:rPr lang="en-US" dirty="0"/>
              <a:t>Upload to your core folder on the RStudio server</a:t>
            </a:r>
          </a:p>
        </p:txBody>
      </p:sp>
      <p:pic>
        <p:nvPicPr>
          <p:cNvPr id="5" name="Picture 4" descr="A screenshot of a computer&#10;&#10;Description automatically generated with medium confidence">
            <a:extLst>
              <a:ext uri="{FF2B5EF4-FFF2-40B4-BE49-F238E27FC236}">
                <a16:creationId xmlns:a16="http://schemas.microsoft.com/office/drawing/2014/main" id="{EE99DEBA-F6E7-A6B7-28FD-0B3F60DAB014}"/>
              </a:ext>
            </a:extLst>
          </p:cNvPr>
          <p:cNvPicPr>
            <a:picLocks noChangeAspect="1"/>
          </p:cNvPicPr>
          <p:nvPr/>
        </p:nvPicPr>
        <p:blipFill>
          <a:blip r:embed="rId2"/>
          <a:stretch>
            <a:fillRect/>
          </a:stretch>
        </p:blipFill>
        <p:spPr>
          <a:xfrm>
            <a:off x="-3227969" y="1017437"/>
            <a:ext cx="6261100" cy="6057900"/>
          </a:xfrm>
          <a:prstGeom prst="rect">
            <a:avLst/>
          </a:prstGeom>
        </p:spPr>
      </p:pic>
    </p:spTree>
    <p:extLst>
      <p:ext uri="{BB962C8B-B14F-4D97-AF65-F5344CB8AC3E}">
        <p14:creationId xmlns:p14="http://schemas.microsoft.com/office/powerpoint/2010/main" val="4009811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36074"/>
            <a:ext cx="10939550" cy="6385851"/>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3200" kern="100" dirty="0">
                <a:effectLst/>
                <a:ea typeface="Calibri" panose="020F0502020204030204" pitchFamily="34" charset="0"/>
                <a:cs typeface="Arial" panose="020B0604020202020204" pitchFamily="34" charset="0"/>
              </a:rPr>
              <a:t>Construct a table that summarizes basic statistics (e.g., count, proportion, mean, range) of a dataset and its subgroups</a:t>
            </a:r>
          </a:p>
          <a:p>
            <a:pPr marL="342900" indent="-342900">
              <a:lnSpc>
                <a:spcPct val="107000"/>
              </a:lnSpc>
              <a:buFont typeface="+mj-lt"/>
              <a:buAutoNum type="arabicPeriod"/>
            </a:pPr>
            <a:r>
              <a:rPr lang="en-US" sz="3200" kern="100" dirty="0">
                <a:effectLst/>
                <a:ea typeface="Calibri" panose="020F0502020204030204" pitchFamily="34" charset="0"/>
                <a:cs typeface="Arial" panose="020B0604020202020204" pitchFamily="34" charset="0"/>
              </a:rPr>
              <a:t>Utilize programming and software tools to facilitate efficient, reproducible, and transparent data analytics workflows</a:t>
            </a:r>
            <a:endParaRPr lang="en-US" sz="3200" dirty="0"/>
          </a:p>
          <a:p>
            <a:r>
              <a:rPr lang="en-US" sz="4000" dirty="0"/>
              <a:t>Lesson Objectives</a:t>
            </a:r>
          </a:p>
          <a:p>
            <a:pPr marL="457200" indent="-457200">
              <a:buFont typeface="+mj-lt"/>
              <a:buAutoNum type="arabicPeriod"/>
            </a:pPr>
            <a:r>
              <a:rPr lang="en-US" sz="3200" dirty="0"/>
              <a:t>Link sequential data analysis steps together using the pipe operator to improve readability</a:t>
            </a:r>
          </a:p>
          <a:p>
            <a:pPr marL="457200" indent="-457200">
              <a:lnSpc>
                <a:spcPct val="100000"/>
              </a:lnSpc>
              <a:spcBef>
                <a:spcPts val="0"/>
              </a:spcBef>
              <a:spcAft>
                <a:spcPts val="0"/>
              </a:spcAft>
              <a:buClrTx/>
              <a:buSzTx/>
              <a:buFont typeface="+mj-lt"/>
              <a:buAutoNum type="arabicPeriod"/>
            </a:pPr>
            <a:r>
              <a:rPr lang="en-US" sz="3200" dirty="0"/>
              <a:t>Calculate a summary statistic for a variable using the summarize() function</a:t>
            </a:r>
          </a:p>
          <a:p>
            <a:pPr marL="457200" indent="-457200">
              <a:lnSpc>
                <a:spcPct val="100000"/>
              </a:lnSpc>
              <a:spcBef>
                <a:spcPts val="0"/>
              </a:spcBef>
              <a:spcAft>
                <a:spcPts val="0"/>
              </a:spcAft>
              <a:buClrTx/>
              <a:buSzTx/>
              <a:buFont typeface="+mj-lt"/>
              <a:buAutoNum type="arabicPeriod"/>
            </a:pPr>
            <a:r>
              <a:rPr lang="en-US" sz="3200" dirty="0"/>
              <a:t>Combine </a:t>
            </a:r>
            <a:r>
              <a:rPr lang="en-US" sz="3200" dirty="0" err="1"/>
              <a:t>group_by</a:t>
            </a:r>
            <a:r>
              <a:rPr lang="en-US" sz="3200" dirty="0"/>
              <a:t>() and summarize() functions to calculate summary statistics for groups of data</a:t>
            </a:r>
          </a:p>
        </p:txBody>
      </p:sp>
    </p:spTree>
    <p:extLst>
      <p:ext uri="{BB962C8B-B14F-4D97-AF65-F5344CB8AC3E}">
        <p14:creationId xmlns:p14="http://schemas.microsoft.com/office/powerpoint/2010/main" val="495534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EDD1C-6CFF-334A-AB67-99CF4CC9B7AD}"/>
              </a:ext>
            </a:extLst>
          </p:cNvPr>
          <p:cNvSpPr>
            <a:spLocks noGrp="1"/>
          </p:cNvSpPr>
          <p:nvPr>
            <p:ph type="title"/>
          </p:nvPr>
        </p:nvSpPr>
        <p:spPr/>
        <p:txBody>
          <a:bodyPr/>
          <a:lstStyle/>
          <a:p>
            <a:r>
              <a:rPr lang="en-US" dirty="0"/>
              <a:t>Typical Data Science Pipeline</a:t>
            </a:r>
          </a:p>
        </p:txBody>
      </p:sp>
      <p:sp>
        <p:nvSpPr>
          <p:cNvPr id="3" name="Content Placeholder 2">
            <a:extLst>
              <a:ext uri="{FF2B5EF4-FFF2-40B4-BE49-F238E27FC236}">
                <a16:creationId xmlns:a16="http://schemas.microsoft.com/office/drawing/2014/main" id="{5BA62B42-9E84-8B4E-A63B-3E9F05150F4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C9FB760-B370-434A-BDC7-3BB975B82E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00109"/>
            <a:ext cx="12192000" cy="4488559"/>
          </a:xfrm>
          <a:prstGeom prst="rect">
            <a:avLst/>
          </a:prstGeom>
        </p:spPr>
      </p:pic>
      <p:sp>
        <p:nvSpPr>
          <p:cNvPr id="6" name="TextBox 5">
            <a:extLst>
              <a:ext uri="{FF2B5EF4-FFF2-40B4-BE49-F238E27FC236}">
                <a16:creationId xmlns:a16="http://schemas.microsoft.com/office/drawing/2014/main" id="{983989C4-EC14-9944-AA13-435E7CAF2ACB}"/>
              </a:ext>
            </a:extLst>
          </p:cNvPr>
          <p:cNvSpPr txBox="1"/>
          <p:nvPr/>
        </p:nvSpPr>
        <p:spPr>
          <a:xfrm>
            <a:off x="0" y="6488668"/>
            <a:ext cx="6818811" cy="369332"/>
          </a:xfrm>
          <a:prstGeom prst="rect">
            <a:avLst/>
          </a:prstGeom>
          <a:noFill/>
        </p:spPr>
        <p:txBody>
          <a:bodyPr wrap="square" rtlCol="0">
            <a:spAutoFit/>
          </a:bodyPr>
          <a:lstStyle/>
          <a:p>
            <a:r>
              <a:rPr lang="en-US" dirty="0"/>
              <a:t>From </a:t>
            </a:r>
            <a:r>
              <a:rPr lang="en-US" i="1" dirty="0"/>
              <a:t>R for Data Science</a:t>
            </a:r>
            <a:r>
              <a:rPr lang="en-US" dirty="0"/>
              <a:t> (https://r4ds.had.co.nz/</a:t>
            </a:r>
            <a:r>
              <a:rPr lang="en-US" dirty="0" err="1"/>
              <a:t>introduction.html</a:t>
            </a:r>
            <a:r>
              <a:rPr lang="en-US" dirty="0"/>
              <a:t>)</a:t>
            </a:r>
          </a:p>
        </p:txBody>
      </p:sp>
      <p:sp>
        <p:nvSpPr>
          <p:cNvPr id="4" name="Rounded Rectangle 3"/>
          <p:cNvSpPr/>
          <p:nvPr/>
        </p:nvSpPr>
        <p:spPr>
          <a:xfrm>
            <a:off x="6617327" y="3856383"/>
            <a:ext cx="1245704" cy="530087"/>
          </a:xfrm>
          <a:prstGeom prst="roundRect">
            <a:avLst/>
          </a:prstGeom>
          <a:solidFill>
            <a:srgbClr val="FFC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p:cNvSpPr/>
          <p:nvPr/>
        </p:nvSpPr>
        <p:spPr>
          <a:xfrm>
            <a:off x="4331326" y="4628543"/>
            <a:ext cx="1896753" cy="530087"/>
          </a:xfrm>
          <a:prstGeom prst="roundRect">
            <a:avLst/>
          </a:prstGeom>
          <a:solidFill>
            <a:srgbClr val="FFC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3530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Piping Data from One Row to the Next</a:t>
            </a:r>
          </a:p>
        </p:txBody>
      </p:sp>
    </p:spTree>
    <p:extLst>
      <p:ext uri="{BB962C8B-B14F-4D97-AF65-F5344CB8AC3E}">
        <p14:creationId xmlns:p14="http://schemas.microsoft.com/office/powerpoint/2010/main" val="2581829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p:txBody>
          <a:bodyPr/>
          <a:lstStyle/>
          <a:p>
            <a:r>
              <a:rPr lang="en-US" dirty="0"/>
              <a:t>Reviewing turnaround times</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p:txBody>
          <a:bodyPr>
            <a:normAutofit/>
          </a:bodyPr>
          <a:lstStyle/>
          <a:p>
            <a:r>
              <a:rPr lang="en-US" sz="3200" dirty="0"/>
              <a:t>We are interested in focusing on specific measurements and calculating turnaround times for different populations in our data set. We would like to start with our sodium values and calculate the total turnaround times for only those observations.</a:t>
            </a:r>
          </a:p>
        </p:txBody>
      </p:sp>
    </p:spTree>
    <p:extLst>
      <p:ext uri="{BB962C8B-B14F-4D97-AF65-F5344CB8AC3E}">
        <p14:creationId xmlns:p14="http://schemas.microsoft.com/office/powerpoint/2010/main" val="2640509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9290" y="507875"/>
            <a:ext cx="5800460" cy="777536"/>
          </a:xfrm>
        </p:spPr>
        <p:txBody>
          <a:bodyPr/>
          <a:lstStyle/>
          <a:p>
            <a:r>
              <a:rPr lang="en-US" sz="4800" dirty="0">
                <a:solidFill>
                  <a:srgbClr val="000000"/>
                </a:solidFill>
              </a:rPr>
              <a:t>Data Analysis Steps</a:t>
            </a:r>
          </a:p>
        </p:txBody>
      </p:sp>
      <p:sp>
        <p:nvSpPr>
          <p:cNvPr id="3" name="Rectangle 2"/>
          <p:cNvSpPr/>
          <p:nvPr/>
        </p:nvSpPr>
        <p:spPr>
          <a:xfrm>
            <a:off x="522667" y="2267808"/>
            <a:ext cx="11018141" cy="1627843"/>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96134" y="3011139"/>
            <a:ext cx="11675070" cy="1015663"/>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mutate(</a:t>
            </a:r>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a:t>
            </a:r>
          </a:p>
          <a:p>
            <a:r>
              <a:rPr lang="en-US"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total_tat</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verify_dt</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collect_dt</a:t>
            </a:r>
            <a:r>
              <a:rPr lang="fr-FR" sz="2000" dirty="0">
                <a:solidFill>
                  <a:srgbClr val="164F86"/>
                </a:solidFill>
                <a:latin typeface="Monaco" pitchFamily="2" charset="77"/>
                <a:ea typeface="Courier New"/>
                <a:cs typeface="Consolas" panose="020B0609020204030204" pitchFamily="49" charset="0"/>
                <a:sym typeface="Courier New"/>
              </a:rPr>
              <a:t>)</a:t>
            </a:r>
          </a:p>
          <a:p>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5" name="TextBox 4"/>
          <p:cNvSpPr txBox="1"/>
          <p:nvPr/>
        </p:nvSpPr>
        <p:spPr>
          <a:xfrm>
            <a:off x="896134" y="2411268"/>
            <a:ext cx="12376110"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value == ‘sodium’)</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7" name="Rectangle 6"/>
          <p:cNvSpPr/>
          <p:nvPr/>
        </p:nvSpPr>
        <p:spPr>
          <a:xfrm>
            <a:off x="586929" y="4590192"/>
            <a:ext cx="11018141" cy="1508105"/>
          </a:xfrm>
          <a:prstGeom prst="rect">
            <a:avLst/>
          </a:prstGeom>
        </p:spPr>
        <p:txBody>
          <a:bodyPr wrap="square">
            <a:spAutoFit/>
          </a:bodyPr>
          <a:lstStyle/>
          <a:p>
            <a:r>
              <a:rPr lang="en-US" sz="3200" dirty="0">
                <a:latin typeface="Calibri" panose="020F0502020204030204" pitchFamily="34" charset="0"/>
              </a:rPr>
              <a:t>1. Filter to extract the subset of sodium</a:t>
            </a:r>
          </a:p>
          <a:p>
            <a:r>
              <a:rPr lang="en-US" sz="3200" dirty="0">
                <a:latin typeface="Calibri" panose="020F0502020204030204" pitchFamily="34" charset="0"/>
              </a:rPr>
              <a:t>2. Mutate to add a column for total turnaround time</a:t>
            </a:r>
          </a:p>
          <a:p>
            <a:endParaRPr lang="en-US" sz="2800" dirty="0">
              <a:latin typeface="Calibri" panose="020F0502020204030204" pitchFamily="34" charset="0"/>
            </a:endParaRPr>
          </a:p>
        </p:txBody>
      </p:sp>
    </p:spTree>
    <p:extLst>
      <p:ext uri="{BB962C8B-B14F-4D97-AF65-F5344CB8AC3E}">
        <p14:creationId xmlns:p14="http://schemas.microsoft.com/office/powerpoint/2010/main" val="220768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p:txBody>
          <a:bodyPr/>
          <a:lstStyle/>
          <a:p>
            <a:r>
              <a:rPr lang="en-US" dirty="0"/>
              <a:t>Reviewing turnaround times</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p:txBody>
          <a:bodyPr>
            <a:normAutofit/>
          </a:bodyPr>
          <a:lstStyle/>
          <a:p>
            <a:r>
              <a:rPr lang="en-US" sz="3200" dirty="0"/>
              <a:t>We are interested in focusing on specific measurements and calculating turnaround times for different populations in our data set. We would like to start with our sodium values and calculate the total turnaround times for only those observations.</a:t>
            </a:r>
          </a:p>
          <a:p>
            <a:endParaRPr lang="en-US" sz="3200" dirty="0"/>
          </a:p>
          <a:p>
            <a:r>
              <a:rPr lang="en-US" sz="3200" dirty="0"/>
              <a:t>Now we want to focus on only the tests with a turnaround time of greater than 5 days.</a:t>
            </a:r>
          </a:p>
        </p:txBody>
      </p:sp>
    </p:spTree>
    <p:extLst>
      <p:ext uri="{BB962C8B-B14F-4D97-AF65-F5344CB8AC3E}">
        <p14:creationId xmlns:p14="http://schemas.microsoft.com/office/powerpoint/2010/main" val="905426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9290" y="507875"/>
            <a:ext cx="5800460" cy="777536"/>
          </a:xfrm>
        </p:spPr>
        <p:txBody>
          <a:bodyPr/>
          <a:lstStyle/>
          <a:p>
            <a:r>
              <a:rPr lang="en-US" sz="4800" dirty="0">
                <a:solidFill>
                  <a:srgbClr val="000000"/>
                </a:solidFill>
              </a:rPr>
              <a:t>Data Analysis Steps</a:t>
            </a:r>
          </a:p>
        </p:txBody>
      </p:sp>
      <p:sp>
        <p:nvSpPr>
          <p:cNvPr id="3" name="Rectangle 2"/>
          <p:cNvSpPr/>
          <p:nvPr/>
        </p:nvSpPr>
        <p:spPr>
          <a:xfrm>
            <a:off x="1019523" y="2119218"/>
            <a:ext cx="10152953" cy="2322384"/>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92990" y="2862549"/>
            <a:ext cx="9779486" cy="1015663"/>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mutate(</a:t>
            </a:r>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a:t>
            </a:r>
          </a:p>
          <a:p>
            <a:r>
              <a:rPr lang="en-US"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total_tat</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verify_dt</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collect_dt</a:t>
            </a:r>
            <a:r>
              <a:rPr lang="fr-FR" sz="2000" dirty="0">
                <a:solidFill>
                  <a:srgbClr val="164F86"/>
                </a:solidFill>
                <a:latin typeface="Monaco" pitchFamily="2" charset="77"/>
                <a:ea typeface="Courier New"/>
                <a:cs typeface="Consolas" panose="020B0609020204030204" pitchFamily="49" charset="0"/>
                <a:sym typeface="Courier New"/>
              </a:rPr>
              <a:t>)</a:t>
            </a:r>
          </a:p>
          <a:p>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5" name="TextBox 4"/>
          <p:cNvSpPr txBox="1"/>
          <p:nvPr/>
        </p:nvSpPr>
        <p:spPr>
          <a:xfrm>
            <a:off x="1392990" y="2262678"/>
            <a:ext cx="9859496"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test == ‘sodium’)</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7" name="Rectangle 6"/>
          <p:cNvSpPr/>
          <p:nvPr/>
        </p:nvSpPr>
        <p:spPr>
          <a:xfrm>
            <a:off x="586929" y="4590192"/>
            <a:ext cx="11018141" cy="2000548"/>
          </a:xfrm>
          <a:prstGeom prst="rect">
            <a:avLst/>
          </a:prstGeom>
        </p:spPr>
        <p:txBody>
          <a:bodyPr wrap="square">
            <a:spAutoFit/>
          </a:bodyPr>
          <a:lstStyle/>
          <a:p>
            <a:r>
              <a:rPr lang="en-US" sz="3200" dirty="0">
                <a:latin typeface="Calibri" panose="020F0502020204030204" pitchFamily="34" charset="0"/>
              </a:rPr>
              <a:t>1. Filter to extract the subset of sodium</a:t>
            </a:r>
          </a:p>
          <a:p>
            <a:r>
              <a:rPr lang="en-US" sz="3200" dirty="0">
                <a:latin typeface="Calibri" panose="020F0502020204030204" pitchFamily="34" charset="0"/>
              </a:rPr>
              <a:t>2. Mutate to add a column for total turnaround time</a:t>
            </a:r>
          </a:p>
          <a:p>
            <a:r>
              <a:rPr lang="en-US" sz="3200" dirty="0">
                <a:latin typeface="Calibri" panose="020F0502020204030204" pitchFamily="34" charset="0"/>
              </a:rPr>
              <a:t>3. Filter to extract only the results with a TAT of more than 5 days</a:t>
            </a:r>
          </a:p>
          <a:p>
            <a:endParaRPr lang="en-US" sz="2800" dirty="0">
              <a:latin typeface="Calibri" panose="020F0502020204030204" pitchFamily="34" charset="0"/>
            </a:endParaRPr>
          </a:p>
        </p:txBody>
      </p:sp>
      <p:sp>
        <p:nvSpPr>
          <p:cNvPr id="6" name="TextBox 5">
            <a:extLst>
              <a:ext uri="{FF2B5EF4-FFF2-40B4-BE49-F238E27FC236}">
                <a16:creationId xmlns:a16="http://schemas.microsoft.com/office/drawing/2014/main" id="{31F06DD4-95A9-982A-62FE-F73A35FB854C}"/>
              </a:ext>
            </a:extLst>
          </p:cNvPr>
          <p:cNvSpPr txBox="1"/>
          <p:nvPr/>
        </p:nvSpPr>
        <p:spPr>
          <a:xfrm>
            <a:off x="1378068" y="3858760"/>
            <a:ext cx="10045868"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a:t>
            </a:r>
            <a:r>
              <a:rPr lang="en-US" sz="2000" dirty="0" err="1">
                <a:solidFill>
                  <a:srgbClr val="164F86"/>
                </a:solidFill>
                <a:latin typeface="Monaco" pitchFamily="2" charset="77"/>
                <a:ea typeface="Courier New"/>
                <a:cs typeface="Consolas" panose="020B0609020204030204" pitchFamily="49" charset="0"/>
                <a:sym typeface="Courier New"/>
              </a:rPr>
              <a:t>total_tat</a:t>
            </a:r>
            <a:r>
              <a:rPr lang="en-US" sz="2000" dirty="0">
                <a:solidFill>
                  <a:srgbClr val="164F86"/>
                </a:solidFill>
                <a:latin typeface="Monaco" pitchFamily="2" charset="77"/>
                <a:ea typeface="Courier New"/>
                <a:cs typeface="Consolas" panose="020B0609020204030204" pitchFamily="49" charset="0"/>
                <a:sym typeface="Courier New"/>
              </a:rPr>
              <a:t> &gt; days(5)</a:t>
            </a:r>
            <a:r>
              <a:rPr lang="fr-FR" sz="2000" dirty="0">
                <a:solidFill>
                  <a:srgbClr val="164F86"/>
                </a:solidFill>
                <a:latin typeface="Monaco" pitchFamily="2" charset="77"/>
                <a:ea typeface="Courier New"/>
                <a:cs typeface="Consolas" panose="020B0609020204030204" pitchFamily="49" charset="0"/>
                <a:sym typeface="Courier New"/>
              </a:rPr>
              <a:t>)</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9" name="Google Shape;172;p20">
            <a:extLst>
              <a:ext uri="{FF2B5EF4-FFF2-40B4-BE49-F238E27FC236}">
                <a16:creationId xmlns:a16="http://schemas.microsoft.com/office/drawing/2014/main" id="{C0F0785C-54A7-0786-D730-FBDD79DCE7D9}"/>
              </a:ext>
            </a:extLst>
          </p:cNvPr>
          <p:cNvSpPr/>
          <p:nvPr/>
        </p:nvSpPr>
        <p:spPr>
          <a:xfrm>
            <a:off x="9682362" y="4180487"/>
            <a:ext cx="1843850" cy="1379977"/>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dirty="0"/>
          </a:p>
        </p:txBody>
      </p:sp>
      <p:sp>
        <p:nvSpPr>
          <p:cNvPr id="12" name="TextBox 11">
            <a:extLst>
              <a:ext uri="{FF2B5EF4-FFF2-40B4-BE49-F238E27FC236}">
                <a16:creationId xmlns:a16="http://schemas.microsoft.com/office/drawing/2014/main" id="{876ACA9F-8416-C333-0F6E-8B634A06E2A6}"/>
              </a:ext>
            </a:extLst>
          </p:cNvPr>
          <p:cNvSpPr txBox="1"/>
          <p:nvPr/>
        </p:nvSpPr>
        <p:spPr>
          <a:xfrm>
            <a:off x="9761517" y="4623638"/>
            <a:ext cx="1627832" cy="923330"/>
          </a:xfrm>
          <a:prstGeom prst="rect">
            <a:avLst/>
          </a:prstGeom>
          <a:noFill/>
        </p:spPr>
        <p:txBody>
          <a:bodyPr wrap="square" rtlCol="0">
            <a:spAutoFit/>
          </a:bodyPr>
          <a:lstStyle/>
          <a:p>
            <a:pPr algn="ctr"/>
            <a:r>
              <a:rPr lang="en-US" dirty="0">
                <a:solidFill>
                  <a:schemeClr val="bg1"/>
                </a:solidFill>
              </a:rPr>
              <a:t>Creates a duration of 5 days</a:t>
            </a:r>
          </a:p>
        </p:txBody>
      </p:sp>
    </p:spTree>
    <p:extLst>
      <p:ext uri="{BB962C8B-B14F-4D97-AF65-F5344CB8AC3E}">
        <p14:creationId xmlns:p14="http://schemas.microsoft.com/office/powerpoint/2010/main" val="1177411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4750" y="351797"/>
            <a:ext cx="7046091" cy="777536"/>
          </a:xfrm>
        </p:spPr>
        <p:txBody>
          <a:bodyPr/>
          <a:lstStyle/>
          <a:p>
            <a:r>
              <a:rPr lang="en-US" sz="4800" dirty="0">
                <a:solidFill>
                  <a:srgbClr val="000000"/>
                </a:solidFill>
              </a:rPr>
              <a:t>The Pipe Operator </a:t>
            </a:r>
            <a:r>
              <a:rPr lang="en-US" sz="4800" b="1" dirty="0">
                <a:solidFill>
                  <a:srgbClr val="000000"/>
                </a:solidFill>
              </a:rPr>
              <a:t>|&gt;</a:t>
            </a:r>
          </a:p>
        </p:txBody>
      </p:sp>
      <p:sp>
        <p:nvSpPr>
          <p:cNvPr id="3" name="U-Turn Arrow 2"/>
          <p:cNvSpPr/>
          <p:nvPr/>
        </p:nvSpPr>
        <p:spPr>
          <a:xfrm>
            <a:off x="1408008" y="1905036"/>
            <a:ext cx="4729745" cy="1261241"/>
          </a:xfrm>
          <a:prstGeom prst="uturnArrow">
            <a:avLst>
              <a:gd name="adj1" fmla="val 31667"/>
              <a:gd name="adj2" fmla="val 25000"/>
              <a:gd name="adj3" fmla="val 33333"/>
              <a:gd name="adj4" fmla="val 35417"/>
              <a:gd name="adj5" fmla="val 100000"/>
            </a:avLst>
          </a:prstGeom>
          <a:solidFill>
            <a:srgbClr val="8DB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Rectangle 3"/>
          <p:cNvSpPr/>
          <p:nvPr/>
        </p:nvSpPr>
        <p:spPr>
          <a:xfrm>
            <a:off x="3935746" y="3166276"/>
            <a:ext cx="6099747" cy="523220"/>
          </a:xfrm>
          <a:prstGeom prst="rect">
            <a:avLst/>
          </a:prstGeom>
        </p:spPr>
        <p:txBody>
          <a:bodyPr wrap="none">
            <a:spAutoFit/>
          </a:bodyPr>
          <a:lstStyle/>
          <a:p>
            <a:r>
              <a:rPr lang="en-US" sz="2800" dirty="0">
                <a:latin typeface="Consolas" panose="020B0609020204030204" pitchFamily="49" charset="0"/>
                <a:ea typeface="Courier New"/>
                <a:cs typeface="Courier New"/>
                <a:sym typeface="Courier New"/>
              </a:rPr>
              <a:t>filter(</a:t>
            </a:r>
            <a:r>
              <a:rPr lang="en-US" sz="2800" dirty="0">
                <a:solidFill>
                  <a:srgbClr val="0365C0"/>
                </a:solidFill>
                <a:latin typeface="Consolas" panose="020B0609020204030204" pitchFamily="49" charset="0"/>
                <a:ea typeface="Courier New"/>
                <a:cs typeface="Courier New"/>
                <a:sym typeface="Courier New"/>
              </a:rPr>
              <a:t>____</a:t>
            </a:r>
            <a:r>
              <a:rPr lang="en-US" sz="2800" dirty="0">
                <a:latin typeface="Consolas" panose="020B0609020204030204" pitchFamily="49" charset="0"/>
                <a:ea typeface="Courier New"/>
                <a:cs typeface="Courier New"/>
                <a:sym typeface="Courier New"/>
              </a:rPr>
              <a:t>, </a:t>
            </a:r>
            <a:r>
              <a:rPr lang="en-US" sz="2800" dirty="0">
                <a:solidFill>
                  <a:schemeClr val="accent3">
                    <a:lumMod val="75000"/>
                  </a:schemeClr>
                </a:solidFill>
                <a:latin typeface="Consolas" panose="020B0609020204030204" pitchFamily="49" charset="0"/>
                <a:ea typeface="Courier New"/>
                <a:cs typeface="Courier New"/>
                <a:sym typeface="Courier New"/>
              </a:rPr>
              <a:t>test == ‘sodium’</a:t>
            </a:r>
            <a:r>
              <a:rPr lang="en-US" sz="2800" dirty="0">
                <a:latin typeface="Consolas" panose="020B0609020204030204" pitchFamily="49" charset="0"/>
                <a:ea typeface="Courier New"/>
                <a:cs typeface="Courier New"/>
                <a:sym typeface="Courier New"/>
              </a:rPr>
              <a:t>)</a:t>
            </a:r>
            <a:endParaRPr lang="en-US" sz="2800" dirty="0"/>
          </a:p>
        </p:txBody>
      </p:sp>
      <p:sp>
        <p:nvSpPr>
          <p:cNvPr id="5" name="Rectangle 4"/>
          <p:cNvSpPr/>
          <p:nvPr/>
        </p:nvSpPr>
        <p:spPr>
          <a:xfrm>
            <a:off x="1056361" y="3169199"/>
            <a:ext cx="1039466" cy="523220"/>
          </a:xfrm>
          <a:prstGeom prst="rect">
            <a:avLst/>
          </a:prstGeom>
        </p:spPr>
        <p:txBody>
          <a:bodyPr wrap="square">
            <a:spAutoFit/>
          </a:bodyPr>
          <a:lstStyle/>
          <a:p>
            <a:r>
              <a:rPr lang="en-US" sz="2800" dirty="0">
                <a:solidFill>
                  <a:srgbClr val="0365C0"/>
                </a:solidFill>
                <a:latin typeface="Consolas" panose="020B0609020204030204" pitchFamily="49" charset="0"/>
                <a:ea typeface="Courier New"/>
                <a:cs typeface="Courier New"/>
                <a:sym typeface="Courier New"/>
              </a:rPr>
              <a:t>chem</a:t>
            </a:r>
            <a:endParaRPr lang="en-US" sz="2800" dirty="0"/>
          </a:p>
        </p:txBody>
      </p:sp>
      <p:sp>
        <p:nvSpPr>
          <p:cNvPr id="6" name="Rectangle 5"/>
          <p:cNvSpPr/>
          <p:nvPr/>
        </p:nvSpPr>
        <p:spPr>
          <a:xfrm>
            <a:off x="924910" y="1172273"/>
            <a:ext cx="10372419" cy="599289"/>
          </a:xfrm>
          <a:prstGeom prst="rect">
            <a:avLst/>
          </a:prstGeom>
        </p:spPr>
        <p:txBody>
          <a:bodyPr wrap="square">
            <a:spAutoFit/>
          </a:bodyPr>
          <a:lstStyle/>
          <a:p>
            <a:pPr algn="ctr"/>
            <a:r>
              <a:rPr lang="en-US" sz="3200" dirty="0">
                <a:latin typeface="Calibri" panose="020F0502020204030204" pitchFamily="34" charset="0"/>
              </a:rPr>
              <a:t>Passes result on left into first argument of function on right.</a:t>
            </a:r>
            <a:endParaRPr lang="en-US" sz="2800" dirty="0">
              <a:latin typeface="Calibri" panose="020F0502020204030204" pitchFamily="34" charset="0"/>
            </a:endParaRPr>
          </a:p>
        </p:txBody>
      </p:sp>
      <p:sp>
        <p:nvSpPr>
          <p:cNvPr id="7" name="Rectangle 6"/>
          <p:cNvSpPr/>
          <p:nvPr/>
        </p:nvSpPr>
        <p:spPr>
          <a:xfrm>
            <a:off x="2571750" y="4204914"/>
            <a:ext cx="6959375" cy="1480813"/>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660875" y="4410170"/>
            <a:ext cx="6099747" cy="523220"/>
          </a:xfrm>
          <a:prstGeom prst="rect">
            <a:avLst/>
          </a:prstGeom>
        </p:spPr>
        <p:txBody>
          <a:bodyPr wrap="none">
            <a:spAutoFit/>
          </a:bodyPr>
          <a:lstStyle/>
          <a:p>
            <a:r>
              <a:rPr lang="en-US" sz="2800" dirty="0">
                <a:solidFill>
                  <a:schemeClr val="tx1"/>
                </a:solidFill>
                <a:latin typeface="Consolas" panose="020B0609020204030204" pitchFamily="49" charset="0"/>
                <a:ea typeface="Courier New"/>
                <a:cs typeface="Courier New"/>
                <a:sym typeface="Courier New"/>
              </a:rPr>
              <a:t>filter(chem, test == ‘sodium’</a:t>
            </a:r>
            <a:r>
              <a:rPr lang="en-US" sz="2800" dirty="0">
                <a:latin typeface="Consolas" panose="020B0609020204030204" pitchFamily="49" charset="0"/>
                <a:ea typeface="Courier New"/>
                <a:cs typeface="Courier New"/>
                <a:sym typeface="Courier New"/>
              </a:rPr>
              <a:t>)</a:t>
            </a:r>
            <a:endParaRPr lang="en-US" sz="2800" dirty="0">
              <a:latin typeface="Consolas" panose="020B0609020204030204" pitchFamily="49" charset="0"/>
              <a:ea typeface="Courier New"/>
              <a:cs typeface="Courier New"/>
            </a:endParaRPr>
          </a:p>
        </p:txBody>
      </p:sp>
      <p:sp>
        <p:nvSpPr>
          <p:cNvPr id="9" name="Rectangle 8"/>
          <p:cNvSpPr/>
          <p:nvPr/>
        </p:nvSpPr>
        <p:spPr>
          <a:xfrm>
            <a:off x="2660875" y="4994945"/>
            <a:ext cx="6494085" cy="523220"/>
          </a:xfrm>
          <a:prstGeom prst="rect">
            <a:avLst/>
          </a:prstGeom>
        </p:spPr>
        <p:txBody>
          <a:bodyPr wrap="none">
            <a:spAutoFit/>
          </a:bodyPr>
          <a:lstStyle/>
          <a:p>
            <a:r>
              <a:rPr lang="en-US" sz="2800" dirty="0">
                <a:latin typeface="Consolas" panose="020B0609020204030204" pitchFamily="49" charset="0"/>
                <a:ea typeface="Courier New"/>
                <a:cs typeface="Courier New"/>
                <a:sym typeface="Courier New"/>
              </a:rPr>
              <a:t>c</a:t>
            </a:r>
            <a:r>
              <a:rPr lang="en-US" sz="2800" dirty="0">
                <a:solidFill>
                  <a:schemeClr val="tx1"/>
                </a:solidFill>
                <a:latin typeface="Consolas" panose="020B0609020204030204" pitchFamily="49" charset="0"/>
                <a:ea typeface="Courier New"/>
                <a:cs typeface="Courier New"/>
                <a:sym typeface="Courier New"/>
              </a:rPr>
              <a:t>hem </a:t>
            </a:r>
            <a:r>
              <a:rPr lang="en-US" sz="2800" dirty="0">
                <a:latin typeface="Consolas" panose="020B0609020204030204" pitchFamily="49" charset="0"/>
                <a:ea typeface="Courier New"/>
                <a:cs typeface="Courier New"/>
                <a:sym typeface="Courier New"/>
              </a:rPr>
              <a:t>|&gt; filter(</a:t>
            </a:r>
            <a:r>
              <a:rPr lang="en-US" sz="2800" dirty="0">
                <a:solidFill>
                  <a:schemeClr val="tx1"/>
                </a:solidFill>
                <a:latin typeface="Consolas" panose="020B0609020204030204" pitchFamily="49" charset="0"/>
                <a:ea typeface="Courier New"/>
                <a:cs typeface="Courier New"/>
                <a:sym typeface="Courier New"/>
              </a:rPr>
              <a:t>test == ‘sodium’</a:t>
            </a:r>
            <a:r>
              <a:rPr lang="en-US" sz="2800" dirty="0">
                <a:latin typeface="Consolas" panose="020B0609020204030204" pitchFamily="49" charset="0"/>
                <a:ea typeface="Courier New"/>
                <a:cs typeface="Courier New"/>
                <a:sym typeface="Courier New"/>
              </a:rPr>
              <a:t>)</a:t>
            </a:r>
            <a:endParaRPr lang="en-US" sz="2800" dirty="0">
              <a:latin typeface="Consolas" panose="020B0609020204030204" pitchFamily="49" charset="0"/>
              <a:ea typeface="Courier New"/>
              <a:cs typeface="Courier New"/>
            </a:endParaRPr>
          </a:p>
        </p:txBody>
      </p:sp>
      <p:sp>
        <p:nvSpPr>
          <p:cNvPr id="11" name="Rectangle 10"/>
          <p:cNvSpPr/>
          <p:nvPr/>
        </p:nvSpPr>
        <p:spPr>
          <a:xfrm>
            <a:off x="3073009" y="3157603"/>
            <a:ext cx="579005" cy="523220"/>
          </a:xfrm>
          <a:prstGeom prst="rect">
            <a:avLst/>
          </a:prstGeom>
        </p:spPr>
        <p:txBody>
          <a:bodyPr wrap="none">
            <a:spAutoFit/>
          </a:bodyPr>
          <a:lstStyle/>
          <a:p>
            <a:r>
              <a:rPr lang="en-US" sz="2800" b="1" dirty="0">
                <a:latin typeface="Consolas" panose="020B0609020204030204" pitchFamily="49" charset="0"/>
                <a:ea typeface="Courier New"/>
                <a:cs typeface="Courier New"/>
              </a:rPr>
              <a:t>|&gt;</a:t>
            </a:r>
          </a:p>
        </p:txBody>
      </p:sp>
    </p:spTree>
    <p:extLst>
      <p:ext uri="{BB962C8B-B14F-4D97-AF65-F5344CB8AC3E}">
        <p14:creationId xmlns:p14="http://schemas.microsoft.com/office/powerpoint/2010/main" val="784428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9290" y="507875"/>
            <a:ext cx="5813160" cy="777536"/>
          </a:xfrm>
        </p:spPr>
        <p:txBody>
          <a:bodyPr/>
          <a:lstStyle/>
          <a:p>
            <a:r>
              <a:rPr lang="en-US" sz="4800" dirty="0">
                <a:solidFill>
                  <a:srgbClr val="000000"/>
                </a:solidFill>
              </a:rPr>
              <a:t>Data Analysis Steps</a:t>
            </a:r>
          </a:p>
        </p:txBody>
      </p:sp>
      <p:sp>
        <p:nvSpPr>
          <p:cNvPr id="3" name="Rectangle 2"/>
          <p:cNvSpPr/>
          <p:nvPr/>
        </p:nvSpPr>
        <p:spPr>
          <a:xfrm>
            <a:off x="599799" y="2604169"/>
            <a:ext cx="11018141" cy="2198137"/>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704870" y="2655830"/>
            <a:ext cx="10782260" cy="1815882"/>
          </a:xfrm>
          <a:prstGeom prst="rect">
            <a:avLst/>
          </a:prstGeom>
          <a:noFill/>
        </p:spPr>
        <p:txBody>
          <a:bodyPr wrap="square" rtlCol="0">
            <a:spAutoFit/>
          </a:bodyPr>
          <a:lstStyle/>
          <a:p>
            <a:r>
              <a:rPr lang="en-US" sz="2800" dirty="0" err="1">
                <a:solidFill>
                  <a:srgbClr val="164F86"/>
                </a:solidFill>
                <a:latin typeface="Consolas" panose="020B0609020204030204" pitchFamily="49" charset="0"/>
                <a:ea typeface="Courier New"/>
                <a:cs typeface="Consolas" panose="020B0609020204030204" pitchFamily="49" charset="0"/>
                <a:sym typeface="Courier New"/>
              </a:rPr>
              <a:t>tat_outliers</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&lt;- chem |&gt; </a:t>
            </a:r>
          </a:p>
          <a:p>
            <a:r>
              <a:rPr lang="en-US" sz="2800" dirty="0">
                <a:solidFill>
                  <a:srgbClr val="164F86"/>
                </a:solidFill>
                <a:latin typeface="Consolas" panose="020B0609020204030204" pitchFamily="49" charset="0"/>
                <a:ea typeface="Courier New"/>
                <a:cs typeface="Consolas" panose="020B0609020204030204" pitchFamily="49" charset="0"/>
                <a:sym typeface="Courier New"/>
              </a:rPr>
              <a:t>	filter(test == ‘sodium’) |&gt; </a:t>
            </a:r>
          </a:p>
          <a:p>
            <a:r>
              <a:rPr lang="en-US" sz="2800" dirty="0">
                <a:solidFill>
                  <a:srgbClr val="164F86"/>
                </a:solidFill>
                <a:latin typeface="Consolas" panose="020B0609020204030204" pitchFamily="49" charset="0"/>
                <a:ea typeface="Courier New"/>
                <a:cs typeface="Consolas" panose="020B0609020204030204" pitchFamily="49" charset="0"/>
                <a:sym typeface="Courier New"/>
              </a:rPr>
              <a:t>	mutate(</a:t>
            </a:r>
            <a:r>
              <a:rPr lang="en-US" sz="2800" dirty="0" err="1">
                <a:solidFill>
                  <a:srgbClr val="164F86"/>
                </a:solidFill>
                <a:latin typeface="Consolas" panose="020B0609020204030204" pitchFamily="49" charset="0"/>
                <a:ea typeface="Courier New"/>
                <a:cs typeface="Consolas" panose="020B0609020204030204" pitchFamily="49" charset="0"/>
                <a:sym typeface="Courier New"/>
              </a:rPr>
              <a:t>total_tat</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 </a:t>
            </a:r>
            <a:r>
              <a:rPr lang="en-US" sz="2800" dirty="0" err="1">
                <a:solidFill>
                  <a:srgbClr val="164F86"/>
                </a:solidFill>
                <a:latin typeface="Consolas" panose="020B0609020204030204" pitchFamily="49" charset="0"/>
                <a:ea typeface="Courier New"/>
                <a:cs typeface="Consolas" panose="020B0609020204030204" pitchFamily="49" charset="0"/>
                <a:sym typeface="Courier New"/>
              </a:rPr>
              <a:t>verify_dt</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 </a:t>
            </a:r>
            <a:r>
              <a:rPr lang="en-US" sz="2800" dirty="0" err="1">
                <a:solidFill>
                  <a:srgbClr val="164F86"/>
                </a:solidFill>
                <a:latin typeface="Consolas" panose="020B0609020204030204" pitchFamily="49" charset="0"/>
                <a:ea typeface="Courier New"/>
                <a:cs typeface="Consolas" panose="020B0609020204030204" pitchFamily="49" charset="0"/>
                <a:sym typeface="Courier New"/>
              </a:rPr>
              <a:t>collect_dt</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|&gt;   </a:t>
            </a:r>
          </a:p>
          <a:p>
            <a:r>
              <a:rPr lang="en-US" sz="2800" dirty="0">
                <a:solidFill>
                  <a:srgbClr val="164F86"/>
                </a:solidFill>
                <a:latin typeface="Consolas" panose="020B0609020204030204" pitchFamily="49" charset="0"/>
                <a:ea typeface="Courier New"/>
                <a:cs typeface="Consolas" panose="020B0609020204030204" pitchFamily="49" charset="0"/>
                <a:sym typeface="Courier New"/>
              </a:rPr>
              <a:t>	filter(</a:t>
            </a:r>
            <a:r>
              <a:rPr lang="en-US" sz="2800" dirty="0" err="1">
                <a:solidFill>
                  <a:srgbClr val="164F86"/>
                </a:solidFill>
                <a:latin typeface="Consolas" panose="020B0609020204030204" pitchFamily="49" charset="0"/>
                <a:ea typeface="Courier New"/>
                <a:cs typeface="Consolas" panose="020B0609020204030204" pitchFamily="49" charset="0"/>
                <a:sym typeface="Courier New"/>
              </a:rPr>
              <a:t>total_tat</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&gt; days(5))</a:t>
            </a:r>
          </a:p>
        </p:txBody>
      </p:sp>
      <p:sp>
        <p:nvSpPr>
          <p:cNvPr id="7" name="Rectangle 6">
            <a:extLst>
              <a:ext uri="{FF2B5EF4-FFF2-40B4-BE49-F238E27FC236}">
                <a16:creationId xmlns:a16="http://schemas.microsoft.com/office/drawing/2014/main" id="{BB9BE619-5752-434B-923C-3017372223D7}"/>
              </a:ext>
            </a:extLst>
          </p:cNvPr>
          <p:cNvSpPr/>
          <p:nvPr/>
        </p:nvSpPr>
        <p:spPr>
          <a:xfrm>
            <a:off x="535537" y="4990336"/>
            <a:ext cx="11018141" cy="1569660"/>
          </a:xfrm>
          <a:prstGeom prst="rect">
            <a:avLst/>
          </a:prstGeom>
        </p:spPr>
        <p:txBody>
          <a:bodyPr wrap="square">
            <a:spAutoFit/>
          </a:bodyPr>
          <a:lstStyle/>
          <a:p>
            <a:r>
              <a:rPr lang="en-US" sz="3200" dirty="0">
                <a:latin typeface="Calibri" panose="020F0502020204030204" pitchFamily="34" charset="0"/>
              </a:rPr>
              <a:t>1. Filter to extract the subset of sodium</a:t>
            </a:r>
          </a:p>
          <a:p>
            <a:r>
              <a:rPr lang="en-US" sz="3200" dirty="0">
                <a:latin typeface="Calibri" panose="020F0502020204030204" pitchFamily="34" charset="0"/>
              </a:rPr>
              <a:t>2. Mutate to add a column for total turnaround time</a:t>
            </a:r>
          </a:p>
          <a:p>
            <a:r>
              <a:rPr lang="en-US" sz="3200" dirty="0">
                <a:latin typeface="Calibri" panose="020F0502020204030204" pitchFamily="34" charset="0"/>
              </a:rPr>
              <a:t>3. Filter to extract only the outpatient results</a:t>
            </a:r>
          </a:p>
        </p:txBody>
      </p:sp>
      <p:sp>
        <p:nvSpPr>
          <p:cNvPr id="5" name="Rounded Rectangular Callout 2">
            <a:extLst>
              <a:ext uri="{FF2B5EF4-FFF2-40B4-BE49-F238E27FC236}">
                <a16:creationId xmlns:a16="http://schemas.microsoft.com/office/drawing/2014/main" id="{5CEE95BD-71AF-B033-B3B1-E12BC2A88912}"/>
              </a:ext>
            </a:extLst>
          </p:cNvPr>
          <p:cNvSpPr/>
          <p:nvPr/>
        </p:nvSpPr>
        <p:spPr>
          <a:xfrm rot="10800000" flipH="1">
            <a:off x="3984979" y="1373425"/>
            <a:ext cx="2324381" cy="139324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tx1">
              <a:lumMod val="65000"/>
              <a:lumOff val="3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Google Shape;324;p34">
            <a:extLst>
              <a:ext uri="{FF2B5EF4-FFF2-40B4-BE49-F238E27FC236}">
                <a16:creationId xmlns:a16="http://schemas.microsoft.com/office/drawing/2014/main" id="{6E6A7A01-F355-631E-5886-FA5D54075981}"/>
              </a:ext>
            </a:extLst>
          </p:cNvPr>
          <p:cNvSpPr txBox="1"/>
          <p:nvPr/>
        </p:nvSpPr>
        <p:spPr>
          <a:xfrm>
            <a:off x="3822005" y="1531001"/>
            <a:ext cx="2650327" cy="457796"/>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original data frame</a:t>
            </a:r>
            <a:endParaRPr sz="2062" dirty="0">
              <a:solidFill>
                <a:schemeClr val="bg1"/>
              </a:solidFill>
              <a:latin typeface="Calibri"/>
              <a:ea typeface="Calibri"/>
              <a:cs typeface="Calibri"/>
              <a:sym typeface="Calibri"/>
            </a:endParaRPr>
          </a:p>
        </p:txBody>
      </p:sp>
      <p:sp>
        <p:nvSpPr>
          <p:cNvPr id="9" name="Rounded Rectangular Callout 2">
            <a:extLst>
              <a:ext uri="{FF2B5EF4-FFF2-40B4-BE49-F238E27FC236}">
                <a16:creationId xmlns:a16="http://schemas.microsoft.com/office/drawing/2014/main" id="{6EFB7EAE-B886-F6A5-057F-8FAFDD4A4D1E}"/>
              </a:ext>
            </a:extLst>
          </p:cNvPr>
          <p:cNvSpPr/>
          <p:nvPr/>
        </p:nvSpPr>
        <p:spPr>
          <a:xfrm rot="10800000" flipH="1">
            <a:off x="6802240" y="1746757"/>
            <a:ext cx="2324381" cy="154841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accent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Google Shape;324;p34">
            <a:extLst>
              <a:ext uri="{FF2B5EF4-FFF2-40B4-BE49-F238E27FC236}">
                <a16:creationId xmlns:a16="http://schemas.microsoft.com/office/drawing/2014/main" id="{33F22A8D-9674-46C0-C55E-84C43ECB7BDC}"/>
              </a:ext>
            </a:extLst>
          </p:cNvPr>
          <p:cNvSpPr txBox="1"/>
          <p:nvPr/>
        </p:nvSpPr>
        <p:spPr>
          <a:xfrm>
            <a:off x="7037314" y="1760310"/>
            <a:ext cx="1854232" cy="457796"/>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one analysis step per line</a:t>
            </a:r>
            <a:endParaRPr sz="2062" dirty="0">
              <a:solidFill>
                <a:schemeClr val="bg1"/>
              </a:solidFill>
              <a:latin typeface="Calibri"/>
              <a:ea typeface="Calibri"/>
              <a:cs typeface="Calibri"/>
              <a:sym typeface="Calibri"/>
            </a:endParaRPr>
          </a:p>
        </p:txBody>
      </p:sp>
      <p:sp>
        <p:nvSpPr>
          <p:cNvPr id="11" name="Rounded Rectangular Callout 2">
            <a:extLst>
              <a:ext uri="{FF2B5EF4-FFF2-40B4-BE49-F238E27FC236}">
                <a16:creationId xmlns:a16="http://schemas.microsoft.com/office/drawing/2014/main" id="{8AF0A44D-7F2C-9314-6BA7-F43D718C8516}"/>
              </a:ext>
            </a:extLst>
          </p:cNvPr>
          <p:cNvSpPr/>
          <p:nvPr/>
        </p:nvSpPr>
        <p:spPr>
          <a:xfrm rot="10800000">
            <a:off x="599798" y="1373425"/>
            <a:ext cx="2056051" cy="139324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rgbClr val="92B57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Google Shape;324;p34">
            <a:extLst>
              <a:ext uri="{FF2B5EF4-FFF2-40B4-BE49-F238E27FC236}">
                <a16:creationId xmlns:a16="http://schemas.microsoft.com/office/drawing/2014/main" id="{2367A9E4-C2D2-C1FB-D3C2-83B6E7EBEC9C}"/>
              </a:ext>
            </a:extLst>
          </p:cNvPr>
          <p:cNvSpPr txBox="1"/>
          <p:nvPr/>
        </p:nvSpPr>
        <p:spPr>
          <a:xfrm>
            <a:off x="299306" y="1531001"/>
            <a:ext cx="2650327" cy="457796"/>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new data frame</a:t>
            </a:r>
            <a:endParaRPr sz="2062"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26078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p:bldP spid="11"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7970" y="990825"/>
            <a:ext cx="6249002" cy="777536"/>
          </a:xfrm>
        </p:spPr>
        <p:txBody>
          <a:bodyPr>
            <a:normAutofit fontScale="90000"/>
          </a:bodyPr>
          <a:lstStyle/>
          <a:p>
            <a:r>
              <a:rPr lang="en-US" dirty="0"/>
              <a:t>Shortcut to type |&gt;</a:t>
            </a:r>
            <a:br>
              <a:rPr lang="en-US" dirty="0"/>
            </a:br>
            <a:endParaRPr lang="en-US" dirty="0"/>
          </a:p>
        </p:txBody>
      </p:sp>
      <p:sp>
        <p:nvSpPr>
          <p:cNvPr id="3"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4" name="Picture 3"/>
          <p:cNvPicPr>
            <a:picLocks noChangeAspect="1"/>
          </p:cNvPicPr>
          <p:nvPr/>
        </p:nvPicPr>
        <p:blipFill>
          <a:blip r:embed="rId4"/>
          <a:stretch>
            <a:fillRect/>
          </a:stretch>
        </p:blipFill>
        <p:spPr>
          <a:xfrm>
            <a:off x="1166648" y="2359572"/>
            <a:ext cx="10457793" cy="2614448"/>
          </a:xfrm>
          <a:prstGeom prst="rect">
            <a:avLst/>
          </a:prstGeom>
        </p:spPr>
      </p:pic>
      <p:sp>
        <p:nvSpPr>
          <p:cNvPr id="5" name="TextBox 4">
            <a:extLst>
              <a:ext uri="{FF2B5EF4-FFF2-40B4-BE49-F238E27FC236}">
                <a16:creationId xmlns:a16="http://schemas.microsoft.com/office/drawing/2014/main" id="{A2F38ED8-5108-84E1-C092-2145A53B53C5}"/>
              </a:ext>
            </a:extLst>
          </p:cNvPr>
          <p:cNvSpPr txBox="1"/>
          <p:nvPr/>
        </p:nvSpPr>
        <p:spPr>
          <a:xfrm>
            <a:off x="274320" y="5715000"/>
            <a:ext cx="9544050" cy="1077218"/>
          </a:xfrm>
          <a:prstGeom prst="rect">
            <a:avLst/>
          </a:prstGeom>
          <a:noFill/>
        </p:spPr>
        <p:txBody>
          <a:bodyPr wrap="square" rtlCol="0">
            <a:spAutoFit/>
          </a:bodyPr>
          <a:lstStyle/>
          <a:p>
            <a:r>
              <a:rPr lang="en-US" sz="3200" dirty="0"/>
              <a:t>Note: The previous version of the pipe was </a:t>
            </a:r>
            <a:r>
              <a:rPr lang="en-US" sz="3200" b="1" dirty="0"/>
              <a:t>%&gt;%</a:t>
            </a:r>
            <a:r>
              <a:rPr lang="en-US" sz="3200" dirty="0"/>
              <a:t> which can be used interchangeably with </a:t>
            </a:r>
            <a:r>
              <a:rPr lang="en-US" sz="3200" b="1" dirty="0"/>
              <a:t>|&gt;</a:t>
            </a:r>
          </a:p>
        </p:txBody>
      </p:sp>
    </p:spTree>
    <p:extLst>
      <p:ext uri="{BB962C8B-B14F-4D97-AF65-F5344CB8AC3E}">
        <p14:creationId xmlns:p14="http://schemas.microsoft.com/office/powerpoint/2010/main" val="240889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2D2291-3F5C-65BC-7B7B-84871BABE2E8}"/>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13</a:t>
            </a:fld>
            <a:endParaRPr lang="en-US">
              <a:solidFill>
                <a:prstClr val="black">
                  <a:lumMod val="95000"/>
                  <a:lumOff val="5000"/>
                </a:prstClr>
              </a:solidFill>
            </a:endParaRPr>
          </a:p>
        </p:txBody>
      </p:sp>
      <p:sp>
        <p:nvSpPr>
          <p:cNvPr id="3" name="Title 2">
            <a:extLst>
              <a:ext uri="{FF2B5EF4-FFF2-40B4-BE49-F238E27FC236}">
                <a16:creationId xmlns:a16="http://schemas.microsoft.com/office/drawing/2014/main" id="{F9284F02-4FC4-1E7A-66B3-7A3C768F1131}"/>
              </a:ext>
            </a:extLst>
          </p:cNvPr>
          <p:cNvSpPr>
            <a:spLocks noGrp="1"/>
          </p:cNvSpPr>
          <p:nvPr>
            <p:ph type="title"/>
          </p:nvPr>
        </p:nvSpPr>
        <p:spPr/>
        <p:txBody>
          <a:bodyPr/>
          <a:lstStyle/>
          <a:p>
            <a:r>
              <a:rPr lang="en-US" dirty="0"/>
              <a:t>Your Turn</a:t>
            </a:r>
          </a:p>
        </p:txBody>
      </p:sp>
      <p:sp>
        <p:nvSpPr>
          <p:cNvPr id="4" name="Text Placeholder 3">
            <a:extLst>
              <a:ext uri="{FF2B5EF4-FFF2-40B4-BE49-F238E27FC236}">
                <a16:creationId xmlns:a16="http://schemas.microsoft.com/office/drawing/2014/main" id="{A1F35CEA-AED0-024F-1381-6026DAEF0D96}"/>
              </a:ext>
            </a:extLst>
          </p:cNvPr>
          <p:cNvSpPr>
            <a:spLocks noGrp="1"/>
          </p:cNvSpPr>
          <p:nvPr>
            <p:ph type="body" sz="quarter" idx="13"/>
          </p:nvPr>
        </p:nvSpPr>
        <p:spPr>
          <a:xfrm>
            <a:off x="1024128" y="2238375"/>
            <a:ext cx="10360152" cy="3682365"/>
          </a:xfrm>
        </p:spPr>
        <p:txBody>
          <a:bodyPr>
            <a:normAutofit fontScale="92500"/>
          </a:bodyPr>
          <a:lstStyle/>
          <a:p>
            <a:pPr marL="914400" indent="-914400">
              <a:buFont typeface="+mj-lt"/>
              <a:buAutoNum type="arabicPeriod"/>
            </a:pPr>
            <a:r>
              <a:rPr lang="en-US" dirty="0"/>
              <a:t>Open “06 – Group and </a:t>
            </a:r>
            <a:r>
              <a:rPr lang="en-US" dirty="0" err="1"/>
              <a:t>Summarize.qmd</a:t>
            </a:r>
            <a:r>
              <a:rPr lang="en-US" dirty="0"/>
              <a:t>”</a:t>
            </a:r>
          </a:p>
          <a:p>
            <a:pPr marL="914400" indent="-914400">
              <a:buFont typeface="+mj-lt"/>
              <a:buAutoNum type="arabicPeriod"/>
            </a:pPr>
            <a:r>
              <a:rPr lang="en-US" dirty="0"/>
              <a:t>Start with the Setup Code Chunk section and work through the Sequencing Analysis Steps section</a:t>
            </a:r>
          </a:p>
          <a:p>
            <a:pPr marL="914400" indent="-914400">
              <a:buFont typeface="+mj-lt"/>
              <a:buAutoNum type="arabicPeriod"/>
            </a:pPr>
            <a:r>
              <a:rPr lang="en-US" dirty="0"/>
              <a:t>Sticky up when done</a:t>
            </a:r>
          </a:p>
        </p:txBody>
      </p:sp>
    </p:spTree>
    <p:extLst>
      <p:ext uri="{BB962C8B-B14F-4D97-AF65-F5344CB8AC3E}">
        <p14:creationId xmlns:p14="http://schemas.microsoft.com/office/powerpoint/2010/main" val="1642417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lstStyle/>
          <a:p>
            <a:r>
              <a:rPr lang="en-US" dirty="0"/>
              <a:t>Summarize the data set</a:t>
            </a:r>
          </a:p>
        </p:txBody>
      </p:sp>
    </p:spTree>
    <p:extLst>
      <p:ext uri="{BB962C8B-B14F-4D97-AF65-F5344CB8AC3E}">
        <p14:creationId xmlns:p14="http://schemas.microsoft.com/office/powerpoint/2010/main" val="859458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EE7AA-CC51-CE40-9585-24244F73C743}"/>
              </a:ext>
            </a:extLst>
          </p:cNvPr>
          <p:cNvSpPr>
            <a:spLocks noGrp="1"/>
          </p:cNvSpPr>
          <p:nvPr>
            <p:ph type="title"/>
          </p:nvPr>
        </p:nvSpPr>
        <p:spPr/>
        <p:txBody>
          <a:bodyPr/>
          <a:lstStyle/>
          <a:p>
            <a:r>
              <a:rPr lang="en-US" dirty="0"/>
              <a:t>Q: What is the average sodium value?</a:t>
            </a:r>
          </a:p>
        </p:txBody>
      </p:sp>
      <p:pic>
        <p:nvPicPr>
          <p:cNvPr id="4" name="Picture 3" descr="A picture containing diagram, screenshot, pixel&#10;&#10;Description automatically generated">
            <a:extLst>
              <a:ext uri="{FF2B5EF4-FFF2-40B4-BE49-F238E27FC236}">
                <a16:creationId xmlns:a16="http://schemas.microsoft.com/office/drawing/2014/main" id="{BE04AF1C-60D9-5770-028B-13AD05802590}"/>
              </a:ext>
            </a:extLst>
          </p:cNvPr>
          <p:cNvPicPr>
            <a:picLocks noChangeAspect="1"/>
          </p:cNvPicPr>
          <p:nvPr/>
        </p:nvPicPr>
        <p:blipFill>
          <a:blip r:embed="rId3"/>
          <a:stretch>
            <a:fillRect/>
          </a:stretch>
        </p:blipFill>
        <p:spPr>
          <a:xfrm>
            <a:off x="2971800" y="1837944"/>
            <a:ext cx="6248400" cy="4998720"/>
          </a:xfrm>
          <a:prstGeom prst="rect">
            <a:avLst/>
          </a:prstGeom>
        </p:spPr>
      </p:pic>
    </p:spTree>
    <p:extLst>
      <p:ext uri="{BB962C8B-B14F-4D97-AF65-F5344CB8AC3E}">
        <p14:creationId xmlns:p14="http://schemas.microsoft.com/office/powerpoint/2010/main" val="2729817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6" name="Google Shape;296;p32"/>
          <p:cNvSpPr txBox="1"/>
          <p:nvPr/>
        </p:nvSpPr>
        <p:spPr>
          <a:xfrm>
            <a:off x="1758718" y="1950720"/>
            <a:ext cx="6159054" cy="890808"/>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dirty="0">
                <a:latin typeface="Calibri"/>
                <a:ea typeface="Calibri"/>
                <a:cs typeface="Calibri"/>
                <a:sym typeface="Calibri"/>
              </a:rPr>
              <a:t>Make summaries of your data</a:t>
            </a:r>
            <a:endParaRPr sz="3200" dirty="0">
              <a:latin typeface="Calibri"/>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6" name="Picture 5"/>
          <p:cNvPicPr>
            <a:picLocks noChangeAspect="1"/>
          </p:cNvPicPr>
          <p:nvPr/>
        </p:nvPicPr>
        <p:blipFill>
          <a:blip r:embed="rId4"/>
          <a:stretch>
            <a:fillRect/>
          </a:stretch>
        </p:blipFill>
        <p:spPr>
          <a:xfrm>
            <a:off x="2724340" y="2673888"/>
            <a:ext cx="5439827" cy="2066804"/>
          </a:xfrm>
          <a:prstGeom prst="rect">
            <a:avLst/>
          </a:prstGeom>
        </p:spPr>
      </p:pic>
      <p:sp>
        <p:nvSpPr>
          <p:cNvPr id="2" name="Rounded Rectangle 1"/>
          <p:cNvSpPr/>
          <p:nvPr/>
        </p:nvSpPr>
        <p:spPr>
          <a:xfrm>
            <a:off x="4765040" y="2987040"/>
            <a:ext cx="1010920" cy="1753652"/>
          </a:xfrm>
          <a:prstGeom prst="round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86757" y="750622"/>
            <a:ext cx="2830647" cy="923330"/>
          </a:xfrm>
          <a:prstGeom prst="rect">
            <a:avLst/>
          </a:prstGeom>
          <a:noFill/>
        </p:spPr>
        <p:txBody>
          <a:bodyPr wrap="none" rtlCol="0">
            <a:spAutoFit/>
          </a:bodyPr>
          <a:lstStyle/>
          <a:p>
            <a:r>
              <a:rPr lang="en-US" sz="5400" dirty="0">
                <a:latin typeface="+mj-lt"/>
                <a:sym typeface="Calibri"/>
              </a:rPr>
              <a:t>summarize</a:t>
            </a:r>
            <a:r>
              <a:rPr lang="en-US" sz="5400" dirty="0">
                <a:sym typeface="Calibri"/>
              </a:rPr>
              <a:t>()</a:t>
            </a:r>
            <a:endParaRPr lang="en-US" dirty="0"/>
          </a:p>
        </p:txBody>
      </p:sp>
      <p:sp>
        <p:nvSpPr>
          <p:cNvPr id="4" name="Rectangle 3">
            <a:extLst>
              <a:ext uri="{FF2B5EF4-FFF2-40B4-BE49-F238E27FC236}">
                <a16:creationId xmlns:a16="http://schemas.microsoft.com/office/drawing/2014/main" id="{EA493C65-B51F-E941-8996-74CCA516164B}"/>
              </a:ext>
            </a:extLst>
          </p:cNvPr>
          <p:cNvSpPr/>
          <p:nvPr/>
        </p:nvSpPr>
        <p:spPr>
          <a:xfrm>
            <a:off x="7212330" y="2673888"/>
            <a:ext cx="705442" cy="709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76851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847205" y="2375374"/>
            <a:ext cx="10762593" cy="1497972"/>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6" name="Google Shape;296;p32"/>
          <p:cNvSpPr txBox="1"/>
          <p:nvPr/>
        </p:nvSpPr>
        <p:spPr>
          <a:xfrm>
            <a:off x="847205" y="1882660"/>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4" name="Rectangle 13"/>
          <p:cNvSpPr/>
          <p:nvPr/>
        </p:nvSpPr>
        <p:spPr>
          <a:xfrm>
            <a:off x="1535224" y="2433717"/>
            <a:ext cx="10074573" cy="1200329"/>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dataframe</a:t>
            </a:r>
            <a:r>
              <a:rPr lang="en-US" sz="3200" dirty="0">
                <a:latin typeface="Consolas" panose="020B0609020204030204" pitchFamily="49" charset="0"/>
                <a:ea typeface="Courier New"/>
                <a:cs typeface="Consolas" panose="020B0609020204030204" pitchFamily="49" charset="0"/>
                <a:sym typeface="Courier New"/>
              </a:rPr>
              <a:t> |&gt;</a:t>
            </a:r>
          </a:p>
          <a:p>
            <a:r>
              <a:rPr lang="en-US" sz="3200" dirty="0">
                <a:latin typeface="Consolas" panose="020B0609020204030204" pitchFamily="49" charset="0"/>
                <a:ea typeface="Courier New"/>
                <a:cs typeface="Consolas" panose="020B0609020204030204" pitchFamily="49" charset="0"/>
                <a:sym typeface="Courier New"/>
              </a:rPr>
              <a:t>	summarize(</a:t>
            </a:r>
            <a:r>
              <a:rPr lang="en-US" sz="3200" dirty="0" err="1">
                <a:solidFill>
                  <a:schemeClr val="accent2">
                    <a:lumMod val="60000"/>
                    <a:lumOff val="40000"/>
                  </a:schemeClr>
                </a:solidFill>
                <a:latin typeface="Consolas" panose="020B0609020204030204" pitchFamily="49" charset="0"/>
                <a:ea typeface="Courier New"/>
                <a:cs typeface="Consolas" panose="020B0609020204030204" pitchFamily="49" charset="0"/>
                <a:sym typeface="Courier New"/>
              </a:rPr>
              <a:t>new_variable</a:t>
            </a:r>
            <a:r>
              <a:rPr lang="en-US" sz="3200" dirty="0">
                <a:solidFill>
                  <a:schemeClr val="accent2">
                    <a:lumMod val="60000"/>
                    <a:lumOff val="40000"/>
                  </a:schemeClr>
                </a:solidFill>
                <a:latin typeface="Consolas" panose="020B0609020204030204" pitchFamily="49" charset="0"/>
                <a:ea typeface="Courier New"/>
                <a:cs typeface="Consolas" panose="020B0609020204030204" pitchFamily="49" charset="0"/>
                <a:sym typeface="Courier New"/>
              </a:rPr>
              <a:t> </a:t>
            </a:r>
            <a:r>
              <a:rPr lang="en-US" sz="4000" b="1" dirty="0">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a:solidFill>
                  <a:srgbClr val="D3908F"/>
                </a:solidFill>
                <a:latin typeface="Consolas" panose="020B0609020204030204" pitchFamily="49" charset="0"/>
                <a:ea typeface="Courier New"/>
                <a:cs typeface="Consolas" panose="020B0609020204030204" pitchFamily="49" charset="0"/>
                <a:sym typeface="Courier New"/>
              </a:rPr>
              <a:t>calculation</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9" name="Google Shape;137;p17"/>
          <p:cNvSpPr/>
          <p:nvPr/>
        </p:nvSpPr>
        <p:spPr>
          <a:xfrm>
            <a:off x="2698230" y="4168817"/>
            <a:ext cx="2530995" cy="1557835"/>
          </a:xfrm>
          <a:prstGeom prst="wedgeRoundRectCallout">
            <a:avLst>
              <a:gd name="adj1" fmla="val 62427"/>
              <a:gd name="adj2" fmla="val -92068"/>
              <a:gd name="adj3" fmla="val 16667"/>
            </a:avLst>
          </a:prstGeom>
          <a:solidFill>
            <a:schemeClr val="accent2">
              <a:lumMod val="60000"/>
              <a:lumOff val="40000"/>
            </a:schemeClr>
          </a:solidFill>
          <a:ln>
            <a:noFill/>
          </a:ln>
        </p:spPr>
        <p:txBody>
          <a:bodyPr spcFirstLastPara="1" wrap="square" lIns="0" tIns="0" rIns="0" bIns="0" anchor="t" anchorCtr="0">
            <a:noAutofit/>
          </a:bodyPr>
          <a:lstStyle/>
          <a:p>
            <a:endParaRPr sz="964"/>
          </a:p>
        </p:txBody>
      </p:sp>
      <p:sp>
        <p:nvSpPr>
          <p:cNvPr id="20" name="Google Shape;138;p17"/>
          <p:cNvSpPr txBox="1"/>
          <p:nvPr/>
        </p:nvSpPr>
        <p:spPr>
          <a:xfrm>
            <a:off x="2796007" y="4432660"/>
            <a:ext cx="2327721"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b="1" dirty="0">
                <a:solidFill>
                  <a:srgbClr val="FFFFFF"/>
                </a:solidFill>
                <a:latin typeface="Trebuchet MS"/>
                <a:ea typeface="Trebuchet MS"/>
                <a:cs typeface="Trebuchet MS"/>
                <a:sym typeface="Trebuchet MS"/>
              </a:rPr>
              <a:t>name for new variable</a:t>
            </a:r>
            <a:endParaRPr sz="2800" dirty="0">
              <a:latin typeface="Trebuchet MS"/>
              <a:ea typeface="Trebuchet MS"/>
              <a:cs typeface="Trebuchet MS"/>
              <a:sym typeface="Trebuchet MS"/>
            </a:endParaRPr>
          </a:p>
        </p:txBody>
      </p:sp>
      <p:sp>
        <p:nvSpPr>
          <p:cNvPr id="21" name="Google Shape;172;p20"/>
          <p:cNvSpPr/>
          <p:nvPr/>
        </p:nvSpPr>
        <p:spPr>
          <a:xfrm>
            <a:off x="9100228" y="3560242"/>
            <a:ext cx="1977347"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a:p>
        </p:txBody>
      </p:sp>
      <p:sp>
        <p:nvSpPr>
          <p:cNvPr id="22" name="Google Shape;173;p20"/>
          <p:cNvSpPr txBox="1"/>
          <p:nvPr/>
        </p:nvSpPr>
        <p:spPr>
          <a:xfrm>
            <a:off x="9333318" y="4426675"/>
            <a:ext cx="1658532" cy="1146391"/>
          </a:xfrm>
          <a:prstGeom prst="rect">
            <a:avLst/>
          </a:prstGeom>
          <a:noFill/>
          <a:ln>
            <a:noFill/>
          </a:ln>
        </p:spPr>
        <p:txBody>
          <a:bodyPr spcFirstLastPara="1" wrap="square" lIns="0" tIns="8504" rIns="0" bIns="0" anchor="ctr"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Value or function</a:t>
            </a:r>
            <a:endParaRPr sz="2800" dirty="0">
              <a:latin typeface="Trebuchet MS"/>
              <a:ea typeface="Trebuchet MS"/>
              <a:cs typeface="Trebuchet MS"/>
              <a:sym typeface="Trebuchet MS"/>
            </a:endParaRPr>
          </a:p>
        </p:txBody>
      </p:sp>
      <p:sp>
        <p:nvSpPr>
          <p:cNvPr id="3" name="TextBox 2"/>
          <p:cNvSpPr txBox="1"/>
          <p:nvPr/>
        </p:nvSpPr>
        <p:spPr>
          <a:xfrm>
            <a:off x="866079" y="781067"/>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sp>
        <p:nvSpPr>
          <p:cNvPr id="2" name="TextBox 1">
            <a:extLst>
              <a:ext uri="{FF2B5EF4-FFF2-40B4-BE49-F238E27FC236}">
                <a16:creationId xmlns:a16="http://schemas.microsoft.com/office/drawing/2014/main" id="{4E5DA503-43D8-234F-A574-470E275BF911}"/>
              </a:ext>
            </a:extLst>
          </p:cNvPr>
          <p:cNvSpPr txBox="1"/>
          <p:nvPr/>
        </p:nvSpPr>
        <p:spPr>
          <a:xfrm>
            <a:off x="751840" y="5974080"/>
            <a:ext cx="10240010" cy="584775"/>
          </a:xfrm>
          <a:prstGeom prst="rect">
            <a:avLst/>
          </a:prstGeom>
          <a:noFill/>
        </p:spPr>
        <p:txBody>
          <a:bodyPr wrap="square" rtlCol="0">
            <a:spAutoFit/>
          </a:bodyPr>
          <a:lstStyle/>
          <a:p>
            <a:pPr algn="ctr"/>
            <a:r>
              <a:rPr lang="en-US" sz="3200" dirty="0"/>
              <a:t>Performs calculation across all rows of data frame</a:t>
            </a:r>
          </a:p>
        </p:txBody>
      </p:sp>
    </p:spTree>
    <p:extLst>
      <p:ext uri="{BB962C8B-B14F-4D97-AF65-F5344CB8AC3E}">
        <p14:creationId xmlns:p14="http://schemas.microsoft.com/office/powerpoint/2010/main" val="2968164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1851660" y="2365236"/>
            <a:ext cx="7383780" cy="1577582"/>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extLst>
              <p:ext uri="{D42A27DB-BD31-4B8C-83A1-F6EECF244321}">
                <p14:modId xmlns:p14="http://schemas.microsoft.com/office/powerpoint/2010/main" val="1701703430"/>
              </p:ext>
            </p:extLst>
          </p:nvPr>
        </p:nvGraphicFramePr>
        <p:xfrm>
          <a:off x="1954530" y="4372602"/>
          <a:ext cx="4345463" cy="2287415"/>
        </p:xfrm>
        <a:graphic>
          <a:graphicData uri="http://schemas.openxmlformats.org/drawingml/2006/table">
            <a:tbl>
              <a:tblPr firstRow="1" bandRow="1"/>
              <a:tblGrid>
                <a:gridCol w="1096271">
                  <a:extLst>
                    <a:ext uri="{9D8B030D-6E8A-4147-A177-3AD203B41FA5}">
                      <a16:colId xmlns:a16="http://schemas.microsoft.com/office/drawing/2014/main" val="20000"/>
                    </a:ext>
                  </a:extLst>
                </a:gridCol>
                <a:gridCol w="1624596">
                  <a:extLst>
                    <a:ext uri="{9D8B030D-6E8A-4147-A177-3AD203B41FA5}">
                      <a16:colId xmlns:a16="http://schemas.microsoft.com/office/drawing/2014/main" val="2120428220"/>
                    </a:ext>
                  </a:extLst>
                </a:gridCol>
                <a:gridCol w="1624596">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test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value</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sodium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138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142</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6592252" y="4702813"/>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4" name="Rounded Rectangular Callout 2"/>
          <p:cNvSpPr/>
          <p:nvPr/>
        </p:nvSpPr>
        <p:spPr>
          <a:xfrm rot="10800000" flipH="1">
            <a:off x="7462072" y="1097278"/>
            <a:ext cx="2878268" cy="223934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tx1">
              <a:lumMod val="65000"/>
              <a:lumOff val="3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Google Shape;324;p34"/>
          <p:cNvSpPr txBox="1"/>
          <p:nvPr/>
        </p:nvSpPr>
        <p:spPr>
          <a:xfrm>
            <a:off x="7573622" y="1335781"/>
            <a:ext cx="2655167" cy="735811"/>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that returns number of observations</a:t>
            </a:r>
            <a:endParaRPr sz="2062" dirty="0">
              <a:solidFill>
                <a:schemeClr val="bg1"/>
              </a:solidFill>
              <a:latin typeface="Calibri"/>
              <a:ea typeface="Calibri"/>
              <a:cs typeface="Calibri"/>
              <a:sym typeface="Calibri"/>
            </a:endParaRPr>
          </a:p>
        </p:txBody>
      </p:sp>
      <p:sp>
        <p:nvSpPr>
          <p:cNvPr id="26" name="TextBox 25"/>
          <p:cNvSpPr txBox="1"/>
          <p:nvPr/>
        </p:nvSpPr>
        <p:spPr>
          <a:xfrm>
            <a:off x="815160" y="763285"/>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3045520595"/>
              </p:ext>
            </p:extLst>
          </p:nvPr>
        </p:nvGraphicFramePr>
        <p:xfrm>
          <a:off x="7318383" y="4372602"/>
          <a:ext cx="2051392" cy="892344"/>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sodium_count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4" name="Rectangle 13"/>
          <p:cNvSpPr/>
          <p:nvPr/>
        </p:nvSpPr>
        <p:spPr>
          <a:xfrm>
            <a:off x="2217275" y="2494355"/>
            <a:ext cx="9392596" cy="1323439"/>
          </a:xfrm>
          <a:prstGeom prst="rect">
            <a:avLst/>
          </a:prstGeom>
        </p:spPr>
        <p:txBody>
          <a:bodyPr wrap="square">
            <a:spAutoFit/>
          </a:bodyPr>
          <a:lstStyle/>
          <a:p>
            <a:r>
              <a:rPr lang="en-US" sz="2400" dirty="0">
                <a:latin typeface="Consolas" panose="020B0609020204030204" pitchFamily="49" charset="0"/>
                <a:ea typeface="Courier New"/>
                <a:cs typeface="Consolas" panose="020B0609020204030204" pitchFamily="49" charset="0"/>
                <a:sym typeface="Courier New"/>
              </a:rPr>
              <a:t>chem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filter(test == “sodium”) |&gt; </a:t>
            </a:r>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sodium_count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spTree>
    <p:extLst>
      <p:ext uri="{BB962C8B-B14F-4D97-AF65-F5344CB8AC3E}">
        <p14:creationId xmlns:p14="http://schemas.microsoft.com/office/powerpoint/2010/main" val="242716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1851659" y="2365236"/>
            <a:ext cx="8274259" cy="1966734"/>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Additional summaries = new columns</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extLst>
              <p:ext uri="{D42A27DB-BD31-4B8C-83A1-F6EECF244321}">
                <p14:modId xmlns:p14="http://schemas.microsoft.com/office/powerpoint/2010/main" val="3967323949"/>
              </p:ext>
            </p:extLst>
          </p:nvPr>
        </p:nvGraphicFramePr>
        <p:xfrm>
          <a:off x="1184073" y="4464042"/>
          <a:ext cx="4345463" cy="2287415"/>
        </p:xfrm>
        <a:graphic>
          <a:graphicData uri="http://schemas.openxmlformats.org/drawingml/2006/table">
            <a:tbl>
              <a:tblPr firstRow="1" bandRow="1"/>
              <a:tblGrid>
                <a:gridCol w="1096271">
                  <a:extLst>
                    <a:ext uri="{9D8B030D-6E8A-4147-A177-3AD203B41FA5}">
                      <a16:colId xmlns:a16="http://schemas.microsoft.com/office/drawing/2014/main" val="20000"/>
                    </a:ext>
                  </a:extLst>
                </a:gridCol>
                <a:gridCol w="1624596">
                  <a:extLst>
                    <a:ext uri="{9D8B030D-6E8A-4147-A177-3AD203B41FA5}">
                      <a16:colId xmlns:a16="http://schemas.microsoft.com/office/drawing/2014/main" val="2120428220"/>
                    </a:ext>
                  </a:extLst>
                </a:gridCol>
                <a:gridCol w="1624596">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test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value</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sodium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138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142</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5821795" y="4794253"/>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5" name="Google Shape;324;p34"/>
          <p:cNvSpPr txBox="1"/>
          <p:nvPr/>
        </p:nvSpPr>
        <p:spPr>
          <a:xfrm>
            <a:off x="7573622" y="1335781"/>
            <a:ext cx="2655167" cy="735811"/>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that returns number of observations</a:t>
            </a:r>
            <a:endParaRPr sz="2062" dirty="0">
              <a:solidFill>
                <a:schemeClr val="bg1"/>
              </a:solidFill>
              <a:latin typeface="Calibri"/>
              <a:ea typeface="Calibri"/>
              <a:cs typeface="Calibri"/>
              <a:sym typeface="Calibri"/>
            </a:endParaRPr>
          </a:p>
        </p:txBody>
      </p:sp>
      <p:sp>
        <p:nvSpPr>
          <p:cNvPr id="26" name="TextBox 25"/>
          <p:cNvSpPr txBox="1"/>
          <p:nvPr/>
        </p:nvSpPr>
        <p:spPr>
          <a:xfrm>
            <a:off x="815160" y="763285"/>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3527859698"/>
              </p:ext>
            </p:extLst>
          </p:nvPr>
        </p:nvGraphicFramePr>
        <p:xfrm>
          <a:off x="6547926" y="4464042"/>
          <a:ext cx="2051392" cy="892344"/>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sodium_count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4" name="Rectangle 13"/>
          <p:cNvSpPr/>
          <p:nvPr/>
        </p:nvSpPr>
        <p:spPr>
          <a:xfrm>
            <a:off x="1954531" y="2494355"/>
            <a:ext cx="8274258" cy="1815882"/>
          </a:xfrm>
          <a:prstGeom prst="rect">
            <a:avLst/>
          </a:prstGeom>
        </p:spPr>
        <p:txBody>
          <a:bodyPr wrap="square">
            <a:spAutoFit/>
          </a:bodyPr>
          <a:lstStyle/>
          <a:p>
            <a:r>
              <a:rPr lang="en-US" sz="2400" dirty="0">
                <a:latin typeface="Consolas" panose="020B0609020204030204" pitchFamily="49" charset="0"/>
                <a:ea typeface="Courier New"/>
                <a:cs typeface="Consolas" panose="020B0609020204030204" pitchFamily="49" charset="0"/>
                <a:sym typeface="Courier New"/>
              </a:rPr>
              <a:t>chem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filter(test == “sodium”) |&gt; </a:t>
            </a:r>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sodium_count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p>
          <a:p>
            <a:r>
              <a:rPr lang="en-US" sz="2400" dirty="0">
                <a:solidFill>
                  <a:srgbClr val="8DB4E2"/>
                </a:solidFill>
                <a:latin typeface="Consolas" panose="020B0609020204030204" pitchFamily="49" charset="0"/>
                <a:ea typeface="Courier New"/>
                <a:cs typeface="Consolas" panose="020B0609020204030204" pitchFamily="49" charset="0"/>
                <a:sym typeface="Courier New"/>
              </a:rPr>
              <a:t>		     </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median_sodium</a:t>
            </a:r>
            <a:r>
              <a:rPr lang="en-US" sz="2400" dirty="0">
                <a:solidFill>
                  <a:srgbClr val="8DB4E2"/>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solidFill>
                  <a:srgbClr val="8DB4E2"/>
                </a:solidFill>
                <a:latin typeface="Consolas" panose="020B0609020204030204" pitchFamily="49" charset="0"/>
                <a:ea typeface="Courier New"/>
                <a:cs typeface="Consolas" panose="020B0609020204030204" pitchFamily="49" charset="0"/>
                <a:sym typeface="Courier New"/>
              </a:rPr>
              <a:t> median(value)</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graphicFrame>
        <p:nvGraphicFramePr>
          <p:cNvPr id="2" name="Table 1">
            <a:extLst>
              <a:ext uri="{FF2B5EF4-FFF2-40B4-BE49-F238E27FC236}">
                <a16:creationId xmlns:a16="http://schemas.microsoft.com/office/drawing/2014/main" id="{A155207D-651B-A7CC-17F0-C30C3373A4DD}"/>
              </a:ext>
            </a:extLst>
          </p:cNvPr>
          <p:cNvGraphicFramePr>
            <a:graphicFrameLocks noGrp="1"/>
          </p:cNvGraphicFramePr>
          <p:nvPr>
            <p:extLst>
              <p:ext uri="{D42A27DB-BD31-4B8C-83A1-F6EECF244321}">
                <p14:modId xmlns:p14="http://schemas.microsoft.com/office/powerpoint/2010/main" val="3287981935"/>
              </p:ext>
            </p:extLst>
          </p:nvPr>
        </p:nvGraphicFramePr>
        <p:xfrm>
          <a:off x="8624997" y="4478390"/>
          <a:ext cx="2382930" cy="863647"/>
        </p:xfrm>
        <a:graphic>
          <a:graphicData uri="http://schemas.openxmlformats.org/drawingml/2006/table">
            <a:tbl>
              <a:tblPr firstRow="1" bandRow="1"/>
              <a:tblGrid>
                <a:gridCol w="2382930">
                  <a:extLst>
                    <a:ext uri="{9D8B030D-6E8A-4147-A177-3AD203B41FA5}">
                      <a16:colId xmlns:a16="http://schemas.microsoft.com/office/drawing/2014/main" val="20000"/>
                    </a:ext>
                  </a:extLst>
                </a:gridCol>
              </a:tblGrid>
              <a:tr h="461323">
                <a:tc>
                  <a:txBody>
                    <a:bodyPr/>
                    <a:lstStyle/>
                    <a:p>
                      <a:pPr marL="0" lvl="0" indent="0" algn="ctr" rtl="0">
                        <a:spcBef>
                          <a:spcPts val="0"/>
                        </a:spcBef>
                        <a:spcAft>
                          <a:spcPts val="0"/>
                        </a:spcAft>
                        <a:buNone/>
                      </a:pPr>
                      <a:r>
                        <a:rPr lang="en-US" sz="2300" b="1" dirty="0" err="1">
                          <a:solidFill>
                            <a:schemeClr val="lt1"/>
                          </a:solidFill>
                        </a:rPr>
                        <a:t>median_sodium</a:t>
                      </a:r>
                      <a:endParaRPr sz="2300" b="1" dirty="0">
                        <a:solidFill>
                          <a:schemeClr val="lt1"/>
                        </a:solidFil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402324">
                <a:tc>
                  <a:txBody>
                    <a:bodyPr/>
                    <a:lstStyle/>
                    <a:p>
                      <a:pPr marL="0" lvl="0" indent="0" algn="ctr" rtl="0">
                        <a:spcBef>
                          <a:spcPts val="0"/>
                        </a:spcBef>
                        <a:spcAft>
                          <a:spcPts val="0"/>
                        </a:spcAft>
                        <a:buNone/>
                      </a:pPr>
                      <a:r>
                        <a:rPr lang="en-US" sz="1900" b="0" i="0" u="none" strike="noStrike" cap="none" dirty="0">
                          <a:solidFill>
                            <a:srgbClr val="000000"/>
                          </a:solidFill>
                          <a:latin typeface="Arial"/>
                          <a:ea typeface="Arial"/>
                          <a:cs typeface="Arial"/>
                          <a:sym typeface="Arial"/>
                        </a:rPr>
                        <a:t>140</a:t>
                      </a:r>
                      <a:endParaRPr sz="1900" b="0" i="0" u="none" strike="noStrike" cap="none" dirty="0">
                        <a:solidFill>
                          <a:srgbClr val="000000"/>
                        </a:solidFill>
                        <a:latin typeface="Arial"/>
                        <a:ea typeface="Arial"/>
                        <a:cs typeface="Arial"/>
                        <a:sym typeface="Aria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3" name="Rounded Rectangular Callout 2">
            <a:extLst>
              <a:ext uri="{FF2B5EF4-FFF2-40B4-BE49-F238E27FC236}">
                <a16:creationId xmlns:a16="http://schemas.microsoft.com/office/drawing/2014/main" id="{1F5AEF81-9A35-1A5C-3567-2C055061DE83}"/>
              </a:ext>
            </a:extLst>
          </p:cNvPr>
          <p:cNvSpPr/>
          <p:nvPr/>
        </p:nvSpPr>
        <p:spPr>
          <a:xfrm rot="10800000" flipH="1">
            <a:off x="7896412" y="1569559"/>
            <a:ext cx="2878268" cy="223934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tx1">
              <a:lumMod val="65000"/>
              <a:lumOff val="3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Google Shape;324;p34">
            <a:extLst>
              <a:ext uri="{FF2B5EF4-FFF2-40B4-BE49-F238E27FC236}">
                <a16:creationId xmlns:a16="http://schemas.microsoft.com/office/drawing/2014/main" id="{3E7B69FB-DAE3-BBD3-BDEE-444227BAE2C0}"/>
              </a:ext>
            </a:extLst>
          </p:cNvPr>
          <p:cNvSpPr txBox="1"/>
          <p:nvPr/>
        </p:nvSpPr>
        <p:spPr>
          <a:xfrm>
            <a:off x="8010713" y="1776362"/>
            <a:ext cx="2655167" cy="735811"/>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applied to a specified variable</a:t>
            </a:r>
            <a:endParaRPr sz="2062"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3145132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31769" y="199102"/>
            <a:ext cx="8466829" cy="6459794"/>
          </a:xfrm>
          <a:prstGeom prst="rect">
            <a:avLst/>
          </a:prstGeom>
        </p:spPr>
      </p:pic>
      <p:pic>
        <p:nvPicPr>
          <p:cNvPr id="3" name="Picture 2"/>
          <p:cNvPicPr>
            <a:picLocks noChangeAspect="1"/>
          </p:cNvPicPr>
          <p:nvPr/>
        </p:nvPicPr>
        <p:blipFill>
          <a:blip r:embed="rId4"/>
          <a:stretch>
            <a:fillRect/>
          </a:stretch>
        </p:blipFill>
        <p:spPr>
          <a:xfrm>
            <a:off x="655682" y="1020403"/>
            <a:ext cx="3152173" cy="5373022"/>
          </a:xfrm>
          <a:prstGeom prst="rect">
            <a:avLst/>
          </a:prstGeom>
          <a:ln w="28575">
            <a:solidFill>
              <a:schemeClr val="tx1"/>
            </a:solidFill>
          </a:ln>
          <a:effectLst>
            <a:outerShdw blurRad="50800" dist="38100" dir="2700000" algn="tl" rotWithShape="0">
              <a:prstClr val="black">
                <a:alpha val="40000"/>
              </a:prstClr>
            </a:outerShdw>
          </a:effectLst>
        </p:spPr>
      </p:pic>
      <p:sp>
        <p:nvSpPr>
          <p:cNvPr id="5" name="Rectangle 4"/>
          <p:cNvSpPr/>
          <p:nvPr/>
        </p:nvSpPr>
        <p:spPr>
          <a:xfrm>
            <a:off x="4336026" y="1622323"/>
            <a:ext cx="1858297" cy="2920180"/>
          </a:xfrm>
          <a:prstGeom prst="rect">
            <a:avLst/>
          </a:prstGeom>
          <a:solidFill>
            <a:schemeClr val="dk1">
              <a:alpha val="52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rapezoid 5"/>
          <p:cNvSpPr/>
          <p:nvPr/>
        </p:nvSpPr>
        <p:spPr>
          <a:xfrm rot="5400000">
            <a:off x="2323261" y="2522364"/>
            <a:ext cx="5368414" cy="2373712"/>
          </a:xfrm>
          <a:custGeom>
            <a:avLst/>
            <a:gdLst>
              <a:gd name="connsiteX0" fmla="*/ 0 w 5368414"/>
              <a:gd name="connsiteY0" fmla="*/ 2373711 h 2373711"/>
              <a:gd name="connsiteX1" fmla="*/ 593428 w 5368414"/>
              <a:gd name="connsiteY1" fmla="*/ 0 h 2373711"/>
              <a:gd name="connsiteX2" fmla="*/ 4774986 w 5368414"/>
              <a:gd name="connsiteY2" fmla="*/ 0 h 2373711"/>
              <a:gd name="connsiteX3" fmla="*/ 5368414 w 5368414"/>
              <a:gd name="connsiteY3" fmla="*/ 2373711 h 2373711"/>
              <a:gd name="connsiteX4" fmla="*/ 0 w 5368414"/>
              <a:gd name="connsiteY4" fmla="*/ 2373711 h 2373711"/>
              <a:gd name="connsiteX0" fmla="*/ 0 w 5368414"/>
              <a:gd name="connsiteY0" fmla="*/ 2373712 h 2373712"/>
              <a:gd name="connsiteX1" fmla="*/ 593428 w 5368414"/>
              <a:gd name="connsiteY1" fmla="*/ 1 h 2373712"/>
              <a:gd name="connsiteX2" fmla="*/ 3498638 w 5368414"/>
              <a:gd name="connsiteY2" fmla="*/ 0 h 2373712"/>
              <a:gd name="connsiteX3" fmla="*/ 5368414 w 5368414"/>
              <a:gd name="connsiteY3" fmla="*/ 2373712 h 2373712"/>
              <a:gd name="connsiteX4" fmla="*/ 0 w 5368414"/>
              <a:gd name="connsiteY4" fmla="*/ 2373712 h 2373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414" h="2373712">
                <a:moveTo>
                  <a:pt x="0" y="2373712"/>
                </a:moveTo>
                <a:lnTo>
                  <a:pt x="593428" y="1"/>
                </a:lnTo>
                <a:lnTo>
                  <a:pt x="3498638" y="0"/>
                </a:lnTo>
                <a:lnTo>
                  <a:pt x="5368414" y="2373712"/>
                </a:lnTo>
                <a:lnTo>
                  <a:pt x="0" y="2373712"/>
                </a:lnTo>
                <a:close/>
              </a:path>
            </a:pathLst>
          </a:custGeom>
          <a:solidFill>
            <a:schemeClr val="tx1">
              <a:lumMod val="85000"/>
              <a:lumOff val="1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0722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A2D24-E81A-8241-8BE4-10C628CAAAB4}"/>
              </a:ext>
            </a:extLst>
          </p:cNvPr>
          <p:cNvSpPr>
            <a:spLocks noGrp="1"/>
          </p:cNvSpPr>
          <p:nvPr>
            <p:ph type="title"/>
          </p:nvPr>
        </p:nvSpPr>
        <p:spPr/>
        <p:txBody>
          <a:bodyPr/>
          <a:lstStyle/>
          <a:p>
            <a:r>
              <a:rPr lang="en-US" dirty="0"/>
              <a:t>Your Turn</a:t>
            </a:r>
          </a:p>
        </p:txBody>
      </p:sp>
      <p:sp>
        <p:nvSpPr>
          <p:cNvPr id="3" name="Text Placeholder 2">
            <a:extLst>
              <a:ext uri="{FF2B5EF4-FFF2-40B4-BE49-F238E27FC236}">
                <a16:creationId xmlns:a16="http://schemas.microsoft.com/office/drawing/2014/main" id="{0F8623C7-1227-A04A-B096-498B1A18A501}"/>
              </a:ext>
            </a:extLst>
          </p:cNvPr>
          <p:cNvSpPr>
            <a:spLocks noGrp="1"/>
          </p:cNvSpPr>
          <p:nvPr>
            <p:ph type="body" sz="quarter" idx="13"/>
          </p:nvPr>
        </p:nvSpPr>
        <p:spPr>
          <a:xfrm>
            <a:off x="3886199" y="2238375"/>
            <a:ext cx="7691907" cy="3998652"/>
          </a:xfrm>
        </p:spPr>
        <p:txBody>
          <a:bodyPr>
            <a:normAutofit/>
          </a:bodyPr>
          <a:lstStyle/>
          <a:p>
            <a:pPr marL="914400" indent="-914400">
              <a:buFont typeface="+mj-lt"/>
              <a:buAutoNum type="arabicPeriod"/>
            </a:pPr>
            <a:r>
              <a:rPr lang="en-US" dirty="0"/>
              <a:t>Work through the Summarizing Variables section of the exercises</a:t>
            </a:r>
          </a:p>
          <a:p>
            <a:pPr marL="914400" indent="-914400">
              <a:buFont typeface="+mj-lt"/>
              <a:buAutoNum type="arabicPeriod"/>
            </a:pPr>
            <a:r>
              <a:rPr lang="en-US" dirty="0"/>
              <a:t>Sticky up when done</a:t>
            </a:r>
          </a:p>
        </p:txBody>
      </p:sp>
      <p:pic>
        <p:nvPicPr>
          <p:cNvPr id="4" name="Picture 3">
            <a:extLst>
              <a:ext uri="{FF2B5EF4-FFF2-40B4-BE49-F238E27FC236}">
                <a16:creationId xmlns:a16="http://schemas.microsoft.com/office/drawing/2014/main" id="{DC153905-403A-189C-2906-DD55EA3E7EA0}"/>
              </a:ext>
            </a:extLst>
          </p:cNvPr>
          <p:cNvPicPr>
            <a:picLocks noChangeAspect="1"/>
          </p:cNvPicPr>
          <p:nvPr/>
        </p:nvPicPr>
        <p:blipFill>
          <a:blip r:embed="rId3"/>
          <a:stretch>
            <a:fillRect/>
          </a:stretch>
        </p:blipFill>
        <p:spPr>
          <a:xfrm>
            <a:off x="358502" y="1249003"/>
            <a:ext cx="3152173" cy="5373022"/>
          </a:xfrm>
          <a:prstGeom prst="rect">
            <a:avLst/>
          </a:prstGeom>
          <a:ln w="28575">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78315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31769" y="199102"/>
            <a:ext cx="8466829" cy="6459794"/>
          </a:xfrm>
          <a:prstGeom prst="rect">
            <a:avLst/>
          </a:prstGeom>
        </p:spPr>
      </p:pic>
      <p:pic>
        <p:nvPicPr>
          <p:cNvPr id="3" name="Picture 2"/>
          <p:cNvPicPr>
            <a:picLocks noChangeAspect="1"/>
          </p:cNvPicPr>
          <p:nvPr/>
        </p:nvPicPr>
        <p:blipFill>
          <a:blip r:embed="rId4"/>
          <a:stretch>
            <a:fillRect/>
          </a:stretch>
        </p:blipFill>
        <p:spPr>
          <a:xfrm>
            <a:off x="655682" y="1020403"/>
            <a:ext cx="3152173" cy="5373022"/>
          </a:xfrm>
          <a:prstGeom prst="rect">
            <a:avLst/>
          </a:prstGeom>
          <a:ln w="28575">
            <a:solidFill>
              <a:schemeClr val="tx1"/>
            </a:solidFill>
          </a:ln>
          <a:effectLst>
            <a:outerShdw blurRad="50800" dist="38100" dir="2700000" algn="tl" rotWithShape="0">
              <a:prstClr val="black">
                <a:alpha val="40000"/>
              </a:prstClr>
            </a:outerShdw>
          </a:effectLst>
        </p:spPr>
      </p:pic>
      <p:sp>
        <p:nvSpPr>
          <p:cNvPr id="5" name="Rectangle 4"/>
          <p:cNvSpPr/>
          <p:nvPr/>
        </p:nvSpPr>
        <p:spPr>
          <a:xfrm>
            <a:off x="4336026" y="1622323"/>
            <a:ext cx="1858297" cy="2920180"/>
          </a:xfrm>
          <a:prstGeom prst="rect">
            <a:avLst/>
          </a:prstGeom>
          <a:solidFill>
            <a:schemeClr val="dk1">
              <a:alpha val="52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rapezoid 5"/>
          <p:cNvSpPr/>
          <p:nvPr/>
        </p:nvSpPr>
        <p:spPr>
          <a:xfrm rot="5400000">
            <a:off x="2323261" y="2522364"/>
            <a:ext cx="5368414" cy="2373712"/>
          </a:xfrm>
          <a:custGeom>
            <a:avLst/>
            <a:gdLst>
              <a:gd name="connsiteX0" fmla="*/ 0 w 5368414"/>
              <a:gd name="connsiteY0" fmla="*/ 2373711 h 2373711"/>
              <a:gd name="connsiteX1" fmla="*/ 593428 w 5368414"/>
              <a:gd name="connsiteY1" fmla="*/ 0 h 2373711"/>
              <a:gd name="connsiteX2" fmla="*/ 4774986 w 5368414"/>
              <a:gd name="connsiteY2" fmla="*/ 0 h 2373711"/>
              <a:gd name="connsiteX3" fmla="*/ 5368414 w 5368414"/>
              <a:gd name="connsiteY3" fmla="*/ 2373711 h 2373711"/>
              <a:gd name="connsiteX4" fmla="*/ 0 w 5368414"/>
              <a:gd name="connsiteY4" fmla="*/ 2373711 h 2373711"/>
              <a:gd name="connsiteX0" fmla="*/ 0 w 5368414"/>
              <a:gd name="connsiteY0" fmla="*/ 2373712 h 2373712"/>
              <a:gd name="connsiteX1" fmla="*/ 593428 w 5368414"/>
              <a:gd name="connsiteY1" fmla="*/ 1 h 2373712"/>
              <a:gd name="connsiteX2" fmla="*/ 3498638 w 5368414"/>
              <a:gd name="connsiteY2" fmla="*/ 0 h 2373712"/>
              <a:gd name="connsiteX3" fmla="*/ 5368414 w 5368414"/>
              <a:gd name="connsiteY3" fmla="*/ 2373712 h 2373712"/>
              <a:gd name="connsiteX4" fmla="*/ 0 w 5368414"/>
              <a:gd name="connsiteY4" fmla="*/ 2373712 h 2373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414" h="2373712">
                <a:moveTo>
                  <a:pt x="0" y="2373712"/>
                </a:moveTo>
                <a:lnTo>
                  <a:pt x="593428" y="1"/>
                </a:lnTo>
                <a:lnTo>
                  <a:pt x="3498638" y="0"/>
                </a:lnTo>
                <a:lnTo>
                  <a:pt x="5368414" y="2373712"/>
                </a:lnTo>
                <a:lnTo>
                  <a:pt x="0" y="2373712"/>
                </a:lnTo>
                <a:close/>
              </a:path>
            </a:pathLst>
          </a:custGeom>
          <a:solidFill>
            <a:schemeClr val="tx1">
              <a:lumMod val="85000"/>
              <a:lumOff val="1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6128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2E27-01A8-5E4B-B5C1-7DDE6C5F2AD2}"/>
              </a:ext>
            </a:extLst>
          </p:cNvPr>
          <p:cNvSpPr>
            <a:spLocks noGrp="1"/>
          </p:cNvSpPr>
          <p:nvPr>
            <p:ph type="title"/>
          </p:nvPr>
        </p:nvSpPr>
        <p:spPr/>
        <p:txBody>
          <a:bodyPr/>
          <a:lstStyle/>
          <a:p>
            <a:r>
              <a:rPr lang="en-US" dirty="0"/>
              <a:t>Calculate the mean turnaround time</a:t>
            </a:r>
          </a:p>
        </p:txBody>
      </p:sp>
      <p:sp>
        <p:nvSpPr>
          <p:cNvPr id="3" name="Slide Number Placeholder 2">
            <a:extLst>
              <a:ext uri="{FF2B5EF4-FFF2-40B4-BE49-F238E27FC236}">
                <a16:creationId xmlns:a16="http://schemas.microsoft.com/office/drawing/2014/main" id="{81FC8083-CF10-4348-B6E9-E66066B8CB5C}"/>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23</a:t>
            </a:fld>
            <a:endParaRPr lang="en-US">
              <a:solidFill>
                <a:prstClr val="black">
                  <a:lumMod val="95000"/>
                  <a:lumOff val="5000"/>
                </a:prstClr>
              </a:solidFill>
            </a:endParaRPr>
          </a:p>
        </p:txBody>
      </p:sp>
      <p:sp>
        <p:nvSpPr>
          <p:cNvPr id="4" name="Google Shape;131;p17">
            <a:extLst>
              <a:ext uri="{FF2B5EF4-FFF2-40B4-BE49-F238E27FC236}">
                <a16:creationId xmlns:a16="http://schemas.microsoft.com/office/drawing/2014/main" id="{9DECED63-7231-3E47-ACAD-32CE0AAD432F}"/>
              </a:ext>
            </a:extLst>
          </p:cNvPr>
          <p:cNvSpPr/>
          <p:nvPr/>
        </p:nvSpPr>
        <p:spPr>
          <a:xfrm>
            <a:off x="988147" y="2084832"/>
            <a:ext cx="10215705" cy="2030583"/>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r>
              <a:rPr lang="en-US" sz="3600" dirty="0"/>
              <a:t>chem |&gt;</a:t>
            </a:r>
          </a:p>
          <a:p>
            <a:r>
              <a:rPr lang="en-US" sz="3600" dirty="0"/>
              <a:t>  mutate(</a:t>
            </a:r>
            <a:r>
              <a:rPr lang="en-US" sz="3600" dirty="0" err="1"/>
              <a:t>total_tat</a:t>
            </a:r>
            <a:r>
              <a:rPr lang="en-US" sz="3600" dirty="0"/>
              <a:t> = </a:t>
            </a:r>
            <a:r>
              <a:rPr lang="en-US" sz="3600" dirty="0" err="1"/>
              <a:t>verify_dt</a:t>
            </a:r>
            <a:r>
              <a:rPr lang="en-US" sz="3600" dirty="0"/>
              <a:t> – </a:t>
            </a:r>
            <a:r>
              <a:rPr lang="en-US" sz="3600" dirty="0" err="1"/>
              <a:t>collect_dt</a:t>
            </a:r>
            <a:r>
              <a:rPr lang="en-US" sz="3600" dirty="0"/>
              <a:t>) |&gt;</a:t>
            </a:r>
          </a:p>
          <a:p>
            <a:r>
              <a:rPr lang="en-US" sz="3600" dirty="0"/>
              <a:t>  summarize(</a:t>
            </a:r>
            <a:r>
              <a:rPr lang="en-US" sz="3600" dirty="0" err="1"/>
              <a:t>total_tat_mean</a:t>
            </a:r>
            <a:r>
              <a:rPr lang="en-US" sz="3600" dirty="0"/>
              <a:t> = mean(</a:t>
            </a:r>
            <a:r>
              <a:rPr lang="en-US" sz="3600" dirty="0" err="1"/>
              <a:t>total_tat</a:t>
            </a:r>
            <a:r>
              <a:rPr lang="en-US" sz="3600" dirty="0"/>
              <a:t>))</a:t>
            </a:r>
          </a:p>
        </p:txBody>
      </p:sp>
      <p:graphicFrame>
        <p:nvGraphicFramePr>
          <p:cNvPr id="5" name="Table 4">
            <a:extLst>
              <a:ext uri="{FF2B5EF4-FFF2-40B4-BE49-F238E27FC236}">
                <a16:creationId xmlns:a16="http://schemas.microsoft.com/office/drawing/2014/main" id="{E3D318C6-A341-DD40-8870-6501B4AD80C3}"/>
              </a:ext>
            </a:extLst>
          </p:cNvPr>
          <p:cNvGraphicFramePr>
            <a:graphicFrameLocks noGrp="1"/>
          </p:cNvGraphicFramePr>
          <p:nvPr>
            <p:extLst>
              <p:ext uri="{D42A27DB-BD31-4B8C-83A1-F6EECF244321}">
                <p14:modId xmlns:p14="http://schemas.microsoft.com/office/powerpoint/2010/main" val="3619340319"/>
              </p:ext>
            </p:extLst>
          </p:nvPr>
        </p:nvGraphicFramePr>
        <p:xfrm>
          <a:off x="2711450" y="4320449"/>
          <a:ext cx="2880715" cy="2287415"/>
        </p:xfrm>
        <a:graphic>
          <a:graphicData uri="http://schemas.openxmlformats.org/drawingml/2006/table">
            <a:tbl>
              <a:tblPr firstRow="1" bandRow="1"/>
              <a:tblGrid>
                <a:gridCol w="1330960">
                  <a:extLst>
                    <a:ext uri="{9D8B030D-6E8A-4147-A177-3AD203B41FA5}">
                      <a16:colId xmlns:a16="http://schemas.microsoft.com/office/drawing/2014/main" val="20000"/>
                    </a:ext>
                  </a:extLst>
                </a:gridCol>
                <a:gridCol w="1549755">
                  <a:extLst>
                    <a:ext uri="{9D8B030D-6E8A-4147-A177-3AD203B41FA5}">
                      <a16:colId xmlns:a16="http://schemas.microsoft.com/office/drawing/2014/main" val="2979810540"/>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total_tat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3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5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6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6" name="Google Shape;387;p40">
            <a:extLst>
              <a:ext uri="{FF2B5EF4-FFF2-40B4-BE49-F238E27FC236}">
                <a16:creationId xmlns:a16="http://schemas.microsoft.com/office/drawing/2014/main" id="{EE8C6E49-5BB9-D249-B913-500B1CA4DC5B}"/>
              </a:ext>
            </a:extLst>
          </p:cNvPr>
          <p:cNvSpPr/>
          <p:nvPr/>
        </p:nvSpPr>
        <p:spPr>
          <a:xfrm>
            <a:off x="6331585" y="5348195"/>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graphicFrame>
        <p:nvGraphicFramePr>
          <p:cNvPr id="7" name="Table 6">
            <a:extLst>
              <a:ext uri="{FF2B5EF4-FFF2-40B4-BE49-F238E27FC236}">
                <a16:creationId xmlns:a16="http://schemas.microsoft.com/office/drawing/2014/main" id="{59E242A1-1442-7445-A224-4D73A48755AD}"/>
              </a:ext>
            </a:extLst>
          </p:cNvPr>
          <p:cNvGraphicFramePr>
            <a:graphicFrameLocks noGrp="1"/>
          </p:cNvGraphicFramePr>
          <p:nvPr>
            <p:extLst>
              <p:ext uri="{D42A27DB-BD31-4B8C-83A1-F6EECF244321}">
                <p14:modId xmlns:p14="http://schemas.microsoft.com/office/powerpoint/2010/main" val="1442025981"/>
              </p:ext>
            </p:extLst>
          </p:nvPr>
        </p:nvGraphicFramePr>
        <p:xfrm>
          <a:off x="7000242" y="5017984"/>
          <a:ext cx="2646679" cy="892344"/>
        </p:xfrm>
        <a:graphic>
          <a:graphicData uri="http://schemas.openxmlformats.org/drawingml/2006/table">
            <a:tbl>
              <a:tblPr firstRow="1" bandRow="1"/>
              <a:tblGrid>
                <a:gridCol w="2646679">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total_tat_mean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4.5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04451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2E27-01A8-5E4B-B5C1-7DDE6C5F2AD2}"/>
              </a:ext>
            </a:extLst>
          </p:cNvPr>
          <p:cNvSpPr>
            <a:spLocks noGrp="1"/>
          </p:cNvSpPr>
          <p:nvPr>
            <p:ph type="title"/>
          </p:nvPr>
        </p:nvSpPr>
        <p:spPr/>
        <p:txBody>
          <a:bodyPr/>
          <a:lstStyle/>
          <a:p>
            <a:r>
              <a:rPr lang="en-US" dirty="0"/>
              <a:t>Calculate the 75</a:t>
            </a:r>
            <a:r>
              <a:rPr lang="en-US" baseline="30000" dirty="0"/>
              <a:t>th</a:t>
            </a:r>
            <a:r>
              <a:rPr lang="en-US" dirty="0"/>
              <a:t> percentile turnaround time</a:t>
            </a:r>
          </a:p>
        </p:txBody>
      </p:sp>
      <p:sp>
        <p:nvSpPr>
          <p:cNvPr id="4" name="Google Shape;131;p17">
            <a:extLst>
              <a:ext uri="{FF2B5EF4-FFF2-40B4-BE49-F238E27FC236}">
                <a16:creationId xmlns:a16="http://schemas.microsoft.com/office/drawing/2014/main" id="{9DECED63-7231-3E47-ACAD-32CE0AAD432F}"/>
              </a:ext>
            </a:extLst>
          </p:cNvPr>
          <p:cNvSpPr/>
          <p:nvPr/>
        </p:nvSpPr>
        <p:spPr>
          <a:xfrm>
            <a:off x="213360" y="2084832"/>
            <a:ext cx="11846561" cy="2372777"/>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r>
              <a:rPr lang="en-US" sz="3600" dirty="0"/>
              <a:t> chem |&gt;</a:t>
            </a:r>
          </a:p>
          <a:p>
            <a:r>
              <a:rPr lang="en-US" sz="3600" dirty="0"/>
              <a:t>  mutate(</a:t>
            </a:r>
            <a:r>
              <a:rPr lang="en-US" sz="3600" dirty="0" err="1"/>
              <a:t>total_tat</a:t>
            </a:r>
            <a:r>
              <a:rPr lang="en-US" sz="3600" dirty="0"/>
              <a:t> = </a:t>
            </a:r>
            <a:r>
              <a:rPr lang="en-US" sz="3600" dirty="0" err="1"/>
              <a:t>verify_dt</a:t>
            </a:r>
            <a:r>
              <a:rPr lang="en-US" sz="3600" dirty="0"/>
              <a:t> – </a:t>
            </a:r>
            <a:r>
              <a:rPr lang="en-US" sz="3600" dirty="0" err="1"/>
              <a:t>collect_dt</a:t>
            </a:r>
            <a:r>
              <a:rPr lang="en-US" sz="3600" dirty="0"/>
              <a:t>) |&gt;</a:t>
            </a:r>
          </a:p>
          <a:p>
            <a:r>
              <a:rPr lang="en-US" sz="3600" dirty="0"/>
              <a:t>  summarize(</a:t>
            </a:r>
            <a:r>
              <a:rPr lang="en-US" sz="3600" dirty="0" err="1"/>
              <a:t>total_tat_mean</a:t>
            </a:r>
            <a:r>
              <a:rPr lang="en-US" sz="3600" dirty="0"/>
              <a:t> = mean(</a:t>
            </a:r>
            <a:r>
              <a:rPr lang="en-US" sz="3600" dirty="0" err="1"/>
              <a:t>total_tat</a:t>
            </a:r>
            <a:r>
              <a:rPr lang="en-US" sz="3600" dirty="0"/>
              <a:t>),</a:t>
            </a:r>
          </a:p>
          <a:p>
            <a:r>
              <a:rPr lang="en-US" sz="3600" dirty="0"/>
              <a:t>		    total_tat_75_pctile = quantile(</a:t>
            </a:r>
            <a:r>
              <a:rPr lang="en-US" sz="3600" dirty="0" err="1"/>
              <a:t>total_tat</a:t>
            </a:r>
            <a:r>
              <a:rPr lang="en-US" sz="3600" dirty="0"/>
              <a:t>, 0.75))</a:t>
            </a:r>
          </a:p>
        </p:txBody>
      </p:sp>
      <p:graphicFrame>
        <p:nvGraphicFramePr>
          <p:cNvPr id="5" name="Table 4">
            <a:extLst>
              <a:ext uri="{FF2B5EF4-FFF2-40B4-BE49-F238E27FC236}">
                <a16:creationId xmlns:a16="http://schemas.microsoft.com/office/drawing/2014/main" id="{E3D318C6-A341-DD40-8870-6501B4AD80C3}"/>
              </a:ext>
            </a:extLst>
          </p:cNvPr>
          <p:cNvGraphicFramePr>
            <a:graphicFrameLocks noGrp="1"/>
          </p:cNvGraphicFramePr>
          <p:nvPr>
            <p:extLst>
              <p:ext uri="{D42A27DB-BD31-4B8C-83A1-F6EECF244321}">
                <p14:modId xmlns:p14="http://schemas.microsoft.com/office/powerpoint/2010/main" val="3302886785"/>
              </p:ext>
            </p:extLst>
          </p:nvPr>
        </p:nvGraphicFramePr>
        <p:xfrm>
          <a:off x="1977668" y="4570584"/>
          <a:ext cx="2880715" cy="2287415"/>
        </p:xfrm>
        <a:graphic>
          <a:graphicData uri="http://schemas.openxmlformats.org/drawingml/2006/table">
            <a:tbl>
              <a:tblPr firstRow="1" bandRow="1"/>
              <a:tblGrid>
                <a:gridCol w="1330960">
                  <a:extLst>
                    <a:ext uri="{9D8B030D-6E8A-4147-A177-3AD203B41FA5}">
                      <a16:colId xmlns:a16="http://schemas.microsoft.com/office/drawing/2014/main" val="20000"/>
                    </a:ext>
                  </a:extLst>
                </a:gridCol>
                <a:gridCol w="1549755">
                  <a:extLst>
                    <a:ext uri="{9D8B030D-6E8A-4147-A177-3AD203B41FA5}">
                      <a16:colId xmlns:a16="http://schemas.microsoft.com/office/drawing/2014/main" val="2979810540"/>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total_tat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6</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11</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6" name="Google Shape;387;p40">
            <a:extLst>
              <a:ext uri="{FF2B5EF4-FFF2-40B4-BE49-F238E27FC236}">
                <a16:creationId xmlns:a16="http://schemas.microsoft.com/office/drawing/2014/main" id="{EE8C6E49-5BB9-D249-B913-500B1CA4DC5B}"/>
              </a:ext>
            </a:extLst>
          </p:cNvPr>
          <p:cNvSpPr/>
          <p:nvPr/>
        </p:nvSpPr>
        <p:spPr>
          <a:xfrm>
            <a:off x="5193665" y="5598331"/>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graphicFrame>
        <p:nvGraphicFramePr>
          <p:cNvPr id="7" name="Table 6">
            <a:extLst>
              <a:ext uri="{FF2B5EF4-FFF2-40B4-BE49-F238E27FC236}">
                <a16:creationId xmlns:a16="http://schemas.microsoft.com/office/drawing/2014/main" id="{59E242A1-1442-7445-A224-4D73A48755AD}"/>
              </a:ext>
            </a:extLst>
          </p:cNvPr>
          <p:cNvGraphicFramePr>
            <a:graphicFrameLocks noGrp="1"/>
          </p:cNvGraphicFramePr>
          <p:nvPr>
            <p:extLst>
              <p:ext uri="{D42A27DB-BD31-4B8C-83A1-F6EECF244321}">
                <p14:modId xmlns:p14="http://schemas.microsoft.com/office/powerpoint/2010/main" val="1867021179"/>
              </p:ext>
            </p:extLst>
          </p:nvPr>
        </p:nvGraphicFramePr>
        <p:xfrm>
          <a:off x="5862322" y="5268120"/>
          <a:ext cx="2646679" cy="892344"/>
        </p:xfrm>
        <a:graphic>
          <a:graphicData uri="http://schemas.openxmlformats.org/drawingml/2006/table">
            <a:tbl>
              <a:tblPr firstRow="1" bandRow="1"/>
              <a:tblGrid>
                <a:gridCol w="2646679">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total_tat_mean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4.5</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3DB776D7-3AA5-4D4D-951C-713D3F97B3BF}"/>
              </a:ext>
            </a:extLst>
          </p:cNvPr>
          <p:cNvGraphicFramePr>
            <a:graphicFrameLocks noGrp="1"/>
          </p:cNvGraphicFramePr>
          <p:nvPr>
            <p:extLst>
              <p:ext uri="{D42A27DB-BD31-4B8C-83A1-F6EECF244321}">
                <p14:modId xmlns:p14="http://schemas.microsoft.com/office/powerpoint/2010/main" val="2343748824"/>
              </p:ext>
            </p:extLst>
          </p:nvPr>
        </p:nvGraphicFramePr>
        <p:xfrm>
          <a:off x="8595362" y="5268120"/>
          <a:ext cx="2646679" cy="892344"/>
        </p:xfrm>
        <a:graphic>
          <a:graphicData uri="http://schemas.openxmlformats.org/drawingml/2006/table">
            <a:tbl>
              <a:tblPr firstRow="1" bandRow="1"/>
              <a:tblGrid>
                <a:gridCol w="2646679">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a:solidFill>
                            <a:schemeClr val="lt1"/>
                          </a:solidFill>
                        </a:rPr>
                        <a:t>total_tat_75_pctile</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5.25</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513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lstStyle/>
          <a:p>
            <a:r>
              <a:rPr lang="en-US" sz="5400" dirty="0">
                <a:solidFill>
                  <a:schemeClr val="tx1"/>
                </a:solidFill>
              </a:rPr>
              <a:t>Grouping your data</a:t>
            </a:r>
            <a:endParaRPr lang="en-US" dirty="0">
              <a:solidFill>
                <a:schemeClr val="tx1"/>
              </a:solidFill>
            </a:endParaRPr>
          </a:p>
        </p:txBody>
      </p:sp>
    </p:spTree>
    <p:extLst>
      <p:ext uri="{BB962C8B-B14F-4D97-AF65-F5344CB8AC3E}">
        <p14:creationId xmlns:p14="http://schemas.microsoft.com/office/powerpoint/2010/main" val="478047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154;p18"/>
          <p:cNvGraphicFramePr/>
          <p:nvPr/>
        </p:nvGraphicFramePr>
        <p:xfrm>
          <a:off x="1629651" y="2861916"/>
          <a:ext cx="3622445" cy="2690254"/>
        </p:xfrm>
        <a:graphic>
          <a:graphicData uri="http://schemas.openxmlformats.org/drawingml/2006/table">
            <a:tbl>
              <a:tblPr firstRow="1" bandRow="1">
                <a:noFill/>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4" name="Right Arrow 3"/>
          <p:cNvSpPr/>
          <p:nvPr/>
        </p:nvSpPr>
        <p:spPr>
          <a:xfrm>
            <a:off x="5811233" y="2941197"/>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oogle Shape;154;p18"/>
          <p:cNvGraphicFramePr/>
          <p:nvPr/>
        </p:nvGraphicFramePr>
        <p:xfrm>
          <a:off x="7218468" y="2552806"/>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951213" y="686765"/>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8"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9" name="Google Shape;154;p18"/>
          <p:cNvGraphicFramePr/>
          <p:nvPr/>
        </p:nvGraphicFramePr>
        <p:xfrm>
          <a:off x="7510605" y="3129289"/>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bl>
          </a:graphicData>
        </a:graphic>
      </p:graphicFrame>
      <p:graphicFrame>
        <p:nvGraphicFramePr>
          <p:cNvPr id="10" name="Google Shape;154;p18"/>
          <p:cNvGraphicFramePr/>
          <p:nvPr/>
        </p:nvGraphicFramePr>
        <p:xfrm>
          <a:off x="7802743" y="3705772"/>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6099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2054" y="712657"/>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5" name="Google Shape;131;p17"/>
          <p:cNvSpPr/>
          <p:nvPr/>
        </p:nvSpPr>
        <p:spPr>
          <a:xfrm>
            <a:off x="3241040" y="2796189"/>
            <a:ext cx="5516880" cy="1265621"/>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6" name="Rectangle 5"/>
          <p:cNvSpPr/>
          <p:nvPr/>
        </p:nvSpPr>
        <p:spPr>
          <a:xfrm>
            <a:off x="3334875" y="2854532"/>
            <a:ext cx="8424455" cy="1077218"/>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dataframe</a:t>
            </a:r>
            <a:r>
              <a:rPr lang="en-US" sz="3200" dirty="0">
                <a:latin typeface="Consolas" panose="020B0609020204030204" pitchFamily="49" charset="0"/>
                <a:ea typeface="Courier New"/>
                <a:cs typeface="Consolas" panose="020B0609020204030204" pitchFamily="49" charset="0"/>
                <a:sym typeface="Courier New"/>
              </a:rPr>
              <a:t>|&gt;</a:t>
            </a:r>
          </a:p>
          <a:p>
            <a:r>
              <a:rPr lang="en-US" sz="3200" dirty="0">
                <a:latin typeface="Consolas" panose="020B0609020204030204" pitchFamily="49" charset="0"/>
                <a:ea typeface="Courier New"/>
                <a:cs typeface="Consolas" panose="020B0609020204030204" pitchFamily="49" charset="0"/>
                <a:sym typeface="Courier New"/>
              </a:rPr>
              <a:t>	</a:t>
            </a:r>
            <a:r>
              <a:rPr lang="en-US" sz="3200" dirty="0" err="1">
                <a:latin typeface="Consolas" panose="020B0609020204030204" pitchFamily="49" charset="0"/>
                <a:ea typeface="Courier New"/>
                <a:cs typeface="Consolas" panose="020B0609020204030204" pitchFamily="49" charset="0"/>
                <a:sym typeface="Courier New"/>
              </a:rPr>
              <a:t>group_by</a:t>
            </a:r>
            <a:r>
              <a:rPr lang="en-US" sz="3200" dirty="0">
                <a:latin typeface="Consolas" panose="020B0609020204030204" pitchFamily="49" charset="0"/>
                <a:ea typeface="Courier New"/>
                <a:cs typeface="Consolas" panose="020B0609020204030204" pitchFamily="49" charset="0"/>
                <a:sym typeface="Courier New"/>
              </a:rPr>
              <a:t>(</a:t>
            </a:r>
            <a:r>
              <a:rPr lang="en-US" sz="3200" dirty="0">
                <a:solidFill>
                  <a:srgbClr val="538DD5"/>
                </a:solidFill>
                <a:latin typeface="Consolas" panose="020B0609020204030204" pitchFamily="49" charset="0"/>
                <a:ea typeface="Courier New"/>
                <a:cs typeface="Consolas" panose="020B0609020204030204" pitchFamily="49" charset="0"/>
                <a:sym typeface="Courier New"/>
              </a:rPr>
              <a:t>variable</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8" name="Google Shape;137;p17"/>
          <p:cNvSpPr/>
          <p:nvPr/>
        </p:nvSpPr>
        <p:spPr>
          <a:xfrm>
            <a:off x="4630466" y="3924704"/>
            <a:ext cx="3135583" cy="2033420"/>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 name="connsiteX0" fmla="*/ 0 w 2183801"/>
              <a:gd name="connsiteY0" fmla="*/ 1129596 h 2448216"/>
              <a:gd name="connsiteX1" fmla="*/ 263730 w 2183801"/>
              <a:gd name="connsiteY1" fmla="*/ 865866 h 2448216"/>
              <a:gd name="connsiteX2" fmla="*/ 1209057 w 2183801"/>
              <a:gd name="connsiteY2" fmla="*/ 843552 h 2448216"/>
              <a:gd name="connsiteX3" fmla="*/ 1806423 w 2183801"/>
              <a:gd name="connsiteY3" fmla="*/ 0 h 2448216"/>
              <a:gd name="connsiteX4" fmla="*/ 1478117 w 2183801"/>
              <a:gd name="connsiteY4" fmla="*/ 877024 h 2448216"/>
              <a:gd name="connsiteX5" fmla="*/ 1920071 w 2183801"/>
              <a:gd name="connsiteY5" fmla="*/ 865866 h 2448216"/>
              <a:gd name="connsiteX6" fmla="*/ 2183801 w 2183801"/>
              <a:gd name="connsiteY6" fmla="*/ 1129596 h 2448216"/>
              <a:gd name="connsiteX7" fmla="*/ 2183801 w 2183801"/>
              <a:gd name="connsiteY7" fmla="*/ 1129591 h 2448216"/>
              <a:gd name="connsiteX8" fmla="*/ 2183801 w 2183801"/>
              <a:gd name="connsiteY8" fmla="*/ 1129591 h 2448216"/>
              <a:gd name="connsiteX9" fmla="*/ 2183801 w 2183801"/>
              <a:gd name="connsiteY9" fmla="*/ 1525179 h 2448216"/>
              <a:gd name="connsiteX10" fmla="*/ 2183801 w 2183801"/>
              <a:gd name="connsiteY10" fmla="*/ 2184486 h 2448216"/>
              <a:gd name="connsiteX11" fmla="*/ 1920071 w 2183801"/>
              <a:gd name="connsiteY11" fmla="*/ 2448216 h 2448216"/>
              <a:gd name="connsiteX12" fmla="*/ 909917 w 2183801"/>
              <a:gd name="connsiteY12" fmla="*/ 2448216 h 2448216"/>
              <a:gd name="connsiteX13" fmla="*/ 363967 w 2183801"/>
              <a:gd name="connsiteY13" fmla="*/ 2448216 h 2448216"/>
              <a:gd name="connsiteX14" fmla="*/ 363967 w 2183801"/>
              <a:gd name="connsiteY14" fmla="*/ 2448216 h 2448216"/>
              <a:gd name="connsiteX15" fmla="*/ 263730 w 2183801"/>
              <a:gd name="connsiteY15" fmla="*/ 2448216 h 2448216"/>
              <a:gd name="connsiteX16" fmla="*/ 0 w 2183801"/>
              <a:gd name="connsiteY16" fmla="*/ 2184486 h 2448216"/>
              <a:gd name="connsiteX17" fmla="*/ 0 w 2183801"/>
              <a:gd name="connsiteY17" fmla="*/ 1525179 h 2448216"/>
              <a:gd name="connsiteX18" fmla="*/ 0 w 2183801"/>
              <a:gd name="connsiteY18" fmla="*/ 1129591 h 2448216"/>
              <a:gd name="connsiteX19" fmla="*/ 0 w 2183801"/>
              <a:gd name="connsiteY19" fmla="*/ 1129591 h 2448216"/>
              <a:gd name="connsiteX20" fmla="*/ 0 w 2183801"/>
              <a:gd name="connsiteY20" fmla="*/ 1129596 h 24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448216">
                <a:moveTo>
                  <a:pt x="0" y="1129596"/>
                </a:moveTo>
                <a:cubicBezTo>
                  <a:pt x="0" y="983942"/>
                  <a:pt x="118076" y="865866"/>
                  <a:pt x="263730" y="865866"/>
                </a:cubicBezTo>
                <a:lnTo>
                  <a:pt x="1209057" y="843552"/>
                </a:lnTo>
                <a:lnTo>
                  <a:pt x="1806423" y="0"/>
                </a:lnTo>
                <a:lnTo>
                  <a:pt x="1478117" y="877024"/>
                </a:lnTo>
                <a:lnTo>
                  <a:pt x="1920071" y="865866"/>
                </a:lnTo>
                <a:cubicBezTo>
                  <a:pt x="2065725" y="865866"/>
                  <a:pt x="2183801" y="983942"/>
                  <a:pt x="2183801" y="1129596"/>
                </a:cubicBezTo>
                <a:lnTo>
                  <a:pt x="2183801" y="1129591"/>
                </a:lnTo>
                <a:lnTo>
                  <a:pt x="2183801" y="1129591"/>
                </a:lnTo>
                <a:lnTo>
                  <a:pt x="2183801" y="1525179"/>
                </a:lnTo>
                <a:lnTo>
                  <a:pt x="2183801" y="2184486"/>
                </a:lnTo>
                <a:cubicBezTo>
                  <a:pt x="2183801" y="2330140"/>
                  <a:pt x="2065725" y="2448216"/>
                  <a:pt x="1920071" y="2448216"/>
                </a:cubicBezTo>
                <a:lnTo>
                  <a:pt x="909917" y="2448216"/>
                </a:lnTo>
                <a:lnTo>
                  <a:pt x="363967" y="2448216"/>
                </a:lnTo>
                <a:lnTo>
                  <a:pt x="363967" y="2448216"/>
                </a:lnTo>
                <a:lnTo>
                  <a:pt x="263730" y="2448216"/>
                </a:lnTo>
                <a:cubicBezTo>
                  <a:pt x="118076" y="2448216"/>
                  <a:pt x="0" y="2330140"/>
                  <a:pt x="0" y="2184486"/>
                </a:cubicBezTo>
                <a:lnTo>
                  <a:pt x="0" y="1525179"/>
                </a:lnTo>
                <a:lnTo>
                  <a:pt x="0" y="1129591"/>
                </a:lnTo>
                <a:lnTo>
                  <a:pt x="0" y="1129591"/>
                </a:lnTo>
                <a:lnTo>
                  <a:pt x="0" y="1129596"/>
                </a:lnTo>
                <a:close/>
              </a:path>
            </a:pathLst>
          </a:custGeom>
          <a:solidFill>
            <a:srgbClr val="78AAD6"/>
          </a:solidFill>
          <a:ln>
            <a:noFill/>
          </a:ln>
        </p:spPr>
        <p:txBody>
          <a:bodyPr spcFirstLastPara="1" wrap="square" lIns="0" tIns="0" rIns="0" bIns="0" anchor="t" anchorCtr="0">
            <a:noAutofit/>
          </a:bodyPr>
          <a:lstStyle/>
          <a:p>
            <a:endParaRPr sz="964"/>
          </a:p>
        </p:txBody>
      </p:sp>
      <p:sp>
        <p:nvSpPr>
          <p:cNvPr id="9" name="Google Shape;138;p17"/>
          <p:cNvSpPr txBox="1"/>
          <p:nvPr/>
        </p:nvSpPr>
        <p:spPr>
          <a:xfrm>
            <a:off x="4785563" y="4814314"/>
            <a:ext cx="2913812"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b="1" dirty="0">
                <a:solidFill>
                  <a:srgbClr val="FFFFFF"/>
                </a:solidFill>
                <a:latin typeface="Trebuchet MS"/>
                <a:ea typeface="Trebuchet MS"/>
                <a:cs typeface="Trebuchet MS"/>
                <a:sym typeface="Trebuchet MS"/>
              </a:rPr>
              <a:t>name of variable to group by</a:t>
            </a:r>
            <a:endParaRPr sz="2800" dirty="0">
              <a:latin typeface="Trebuchet MS"/>
              <a:ea typeface="Trebuchet MS"/>
              <a:cs typeface="Trebuchet MS"/>
              <a:sym typeface="Trebuchet MS"/>
            </a:endParaRPr>
          </a:p>
        </p:txBody>
      </p:sp>
      <p:sp>
        <p:nvSpPr>
          <p:cNvPr id="13" name="Google Shape;296;p32"/>
          <p:cNvSpPr txBox="1"/>
          <p:nvPr/>
        </p:nvSpPr>
        <p:spPr>
          <a:xfrm>
            <a:off x="1072054" y="2075342"/>
            <a:ext cx="1076259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i="1" dirty="0">
                <a:latin typeface="Calibri"/>
                <a:ea typeface="Calibri"/>
                <a:cs typeface="Calibri"/>
                <a:sym typeface="Calibri"/>
              </a:rPr>
              <a:t>Grouping observations based on a specific </a:t>
            </a:r>
            <a:r>
              <a:rPr lang="en-US" sz="3200" i="1" dirty="0">
                <a:solidFill>
                  <a:srgbClr val="0070C0"/>
                </a:solidFill>
                <a:latin typeface="Calibri"/>
                <a:ea typeface="Calibri"/>
                <a:cs typeface="Calibri"/>
                <a:sym typeface="Calibri"/>
              </a:rPr>
              <a:t>variable</a:t>
            </a:r>
            <a:r>
              <a:rPr lang="en-US" sz="3200" i="1" dirty="0">
                <a:latin typeface="Calibri"/>
                <a:ea typeface="Calibri"/>
                <a:cs typeface="Calibri"/>
                <a:sym typeface="Calibri"/>
              </a:rPr>
              <a:t>’s values</a:t>
            </a:r>
            <a:endParaRPr sz="3200" i="1" dirty="0">
              <a:latin typeface="Calibri"/>
              <a:ea typeface="Calibri"/>
              <a:cs typeface="Calibri"/>
              <a:sym typeface="Calibri"/>
            </a:endParaRPr>
          </a:p>
        </p:txBody>
      </p:sp>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Tree>
    <p:extLst>
      <p:ext uri="{BB962C8B-B14F-4D97-AF65-F5344CB8AC3E}">
        <p14:creationId xmlns:p14="http://schemas.microsoft.com/office/powerpoint/2010/main" val="192450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E89AA37-2E4D-D993-A62A-E2574C806D11}"/>
              </a:ext>
            </a:extLst>
          </p:cNvPr>
          <p:cNvPicPr>
            <a:picLocks noChangeAspect="1"/>
          </p:cNvPicPr>
          <p:nvPr/>
        </p:nvPicPr>
        <p:blipFill>
          <a:blip r:embed="rId3"/>
          <a:stretch>
            <a:fillRect/>
          </a:stretch>
        </p:blipFill>
        <p:spPr>
          <a:xfrm>
            <a:off x="2531279" y="3770024"/>
            <a:ext cx="6887041" cy="2891044"/>
          </a:xfrm>
          <a:prstGeom prst="rect">
            <a:avLst/>
          </a:prstGeom>
        </p:spPr>
      </p:pic>
      <p:sp>
        <p:nvSpPr>
          <p:cNvPr id="4" name="TextBox 3"/>
          <p:cNvSpPr txBox="1"/>
          <p:nvPr/>
        </p:nvSpPr>
        <p:spPr>
          <a:xfrm>
            <a:off x="880759" y="742329"/>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5" name="Google Shape;131;p17"/>
          <p:cNvSpPr/>
          <p:nvPr/>
        </p:nvSpPr>
        <p:spPr>
          <a:xfrm>
            <a:off x="3291840" y="2427522"/>
            <a:ext cx="5638800" cy="1284159"/>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6" name="Rectangle 5"/>
          <p:cNvSpPr/>
          <p:nvPr/>
        </p:nvSpPr>
        <p:spPr>
          <a:xfrm>
            <a:off x="3588875" y="2485865"/>
            <a:ext cx="5189365" cy="1077218"/>
          </a:xfrm>
          <a:prstGeom prst="rect">
            <a:avLst/>
          </a:prstGeom>
        </p:spPr>
        <p:txBody>
          <a:bodyPr wrap="square">
            <a:spAutoFit/>
          </a:bodyPr>
          <a:lstStyle/>
          <a:p>
            <a:r>
              <a:rPr lang="en-US" sz="3200" dirty="0">
                <a:latin typeface="Consolas" panose="020B0609020204030204" pitchFamily="49" charset="0"/>
                <a:ea typeface="Courier New"/>
                <a:cs typeface="Consolas" panose="020B0609020204030204" pitchFamily="49" charset="0"/>
                <a:sym typeface="Courier New"/>
              </a:rPr>
              <a:t>chem |&gt;</a:t>
            </a:r>
            <a:endParaRPr lang="en-US" sz="3200" dirty="0">
              <a:solidFill>
                <a:schemeClr val="bg2">
                  <a:lumMod val="90000"/>
                </a:schemeClr>
              </a:solidFill>
              <a:latin typeface="Consolas" panose="020B0609020204030204" pitchFamily="49" charset="0"/>
              <a:ea typeface="Courier New"/>
              <a:cs typeface="Consolas" panose="020B0609020204030204" pitchFamily="49" charset="0"/>
              <a:sym typeface="Courier New"/>
            </a:endParaRPr>
          </a:p>
          <a:p>
            <a:r>
              <a:rPr lang="en-US" sz="3200" dirty="0">
                <a:latin typeface="Consolas" panose="020B0609020204030204" pitchFamily="49" charset="0"/>
                <a:ea typeface="Courier New"/>
                <a:cs typeface="Consolas" panose="020B0609020204030204" pitchFamily="49" charset="0"/>
                <a:sym typeface="Courier New"/>
              </a:rPr>
              <a:t>	</a:t>
            </a:r>
            <a:r>
              <a:rPr lang="en-US" sz="3200" dirty="0" err="1">
                <a:latin typeface="Consolas" panose="020B0609020204030204" pitchFamily="49" charset="0"/>
                <a:ea typeface="Courier New"/>
                <a:cs typeface="Consolas" panose="020B0609020204030204" pitchFamily="49" charset="0"/>
                <a:sym typeface="Courier New"/>
              </a:rPr>
              <a:t>group_by</a:t>
            </a:r>
            <a:r>
              <a:rPr lang="en-US" sz="3200" dirty="0">
                <a:latin typeface="Consolas" panose="020B0609020204030204" pitchFamily="49" charset="0"/>
                <a:ea typeface="Courier New"/>
                <a:cs typeface="Consolas" panose="020B0609020204030204" pitchFamily="49" charset="0"/>
                <a:sym typeface="Courier New"/>
              </a:rPr>
              <a:t>(</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mrn</a:t>
            </a:r>
            <a:r>
              <a:rPr lang="en-US" sz="3200" dirty="0">
                <a:latin typeface="Consolas" panose="020B0609020204030204" pitchFamily="49" charset="0"/>
                <a:ea typeface="Courier New"/>
                <a:cs typeface="Consolas" panose="020B0609020204030204" pitchFamily="49" charset="0"/>
                <a:sym typeface="Courier New"/>
              </a:rPr>
              <a:t>)</a:t>
            </a:r>
            <a:endParaRPr lang="en-US" sz="800" dirty="0"/>
          </a:p>
        </p:txBody>
      </p:sp>
      <p:sp>
        <p:nvSpPr>
          <p:cNvPr id="13" name="Google Shape;296;p32"/>
          <p:cNvSpPr txBox="1"/>
          <p:nvPr/>
        </p:nvSpPr>
        <p:spPr>
          <a:xfrm>
            <a:off x="1100629" y="1684817"/>
            <a:ext cx="7335447" cy="502623"/>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i="1" dirty="0">
                <a:latin typeface="Calibri"/>
                <a:ea typeface="Calibri"/>
                <a:cs typeface="Calibri"/>
                <a:sym typeface="Calibri"/>
              </a:rPr>
              <a:t>Group observations by </a:t>
            </a:r>
            <a:r>
              <a:rPr lang="en-US" sz="3200" i="1" dirty="0" err="1">
                <a:solidFill>
                  <a:srgbClr val="0070C0"/>
                </a:solidFill>
                <a:latin typeface="Calibri"/>
                <a:ea typeface="Calibri"/>
                <a:cs typeface="Calibri"/>
                <a:sym typeface="Calibri"/>
              </a:rPr>
              <a:t>pan_day</a:t>
            </a:r>
            <a:endParaRPr sz="3200" i="1" dirty="0">
              <a:solidFill>
                <a:srgbClr val="0070C0"/>
              </a:solidFill>
              <a:latin typeface="Calibri"/>
              <a:ea typeface="Calibri"/>
              <a:cs typeface="Calibri"/>
              <a:sym typeface="Calibri"/>
            </a:endParaRPr>
          </a:p>
        </p:txBody>
      </p:sp>
      <p:sp>
        <p:nvSpPr>
          <p:cNvPr id="11" name="Google Shape;46;p7"/>
          <p:cNvSpPr>
            <a:spLocks noChangeAspect="1"/>
          </p:cNvSpPr>
          <p:nvPr/>
        </p:nvSpPr>
        <p:spPr>
          <a:xfrm>
            <a:off x="11152671" y="5805616"/>
            <a:ext cx="776274" cy="83567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endParaRPr sz="964"/>
          </a:p>
        </p:txBody>
      </p:sp>
      <p:sp>
        <p:nvSpPr>
          <p:cNvPr id="14" name="Rounded Rectangle 13">
            <a:extLst>
              <a:ext uri="{FF2B5EF4-FFF2-40B4-BE49-F238E27FC236}">
                <a16:creationId xmlns:a16="http://schemas.microsoft.com/office/drawing/2014/main" id="{8D4421FF-4B94-2142-9F28-7551BEAB67CA}"/>
              </a:ext>
            </a:extLst>
          </p:cNvPr>
          <p:cNvSpPr/>
          <p:nvPr/>
        </p:nvSpPr>
        <p:spPr>
          <a:xfrm>
            <a:off x="4743450" y="4038056"/>
            <a:ext cx="1543050" cy="301213"/>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Google Shape;137;p17">
            <a:extLst>
              <a:ext uri="{FF2B5EF4-FFF2-40B4-BE49-F238E27FC236}">
                <a16:creationId xmlns:a16="http://schemas.microsoft.com/office/drawing/2014/main" id="{878C169E-9F1E-4F2C-86C2-8A95693B802E}"/>
              </a:ext>
            </a:extLst>
          </p:cNvPr>
          <p:cNvSpPr/>
          <p:nvPr/>
        </p:nvSpPr>
        <p:spPr>
          <a:xfrm>
            <a:off x="595110" y="4946057"/>
            <a:ext cx="2530995" cy="1557835"/>
          </a:xfrm>
          <a:prstGeom prst="wedgeRoundRectCallout">
            <a:avLst>
              <a:gd name="adj1" fmla="val 62427"/>
              <a:gd name="adj2" fmla="val -92068"/>
              <a:gd name="adj3" fmla="val 16667"/>
            </a:avLst>
          </a:prstGeom>
          <a:solidFill>
            <a:schemeClr val="accent2">
              <a:lumMod val="60000"/>
              <a:lumOff val="40000"/>
            </a:schemeClr>
          </a:solidFill>
          <a:ln>
            <a:noFill/>
          </a:ln>
        </p:spPr>
        <p:txBody>
          <a:bodyPr spcFirstLastPara="1" wrap="square" lIns="0" tIns="0" rIns="0" bIns="0" anchor="t" anchorCtr="0">
            <a:noAutofit/>
          </a:bodyPr>
          <a:lstStyle/>
          <a:p>
            <a:endParaRPr sz="964"/>
          </a:p>
        </p:txBody>
      </p:sp>
      <p:sp>
        <p:nvSpPr>
          <p:cNvPr id="8" name="Google Shape;138;p17">
            <a:extLst>
              <a:ext uri="{FF2B5EF4-FFF2-40B4-BE49-F238E27FC236}">
                <a16:creationId xmlns:a16="http://schemas.microsoft.com/office/drawing/2014/main" id="{1F77816A-F19A-E27B-0515-C640A941E716}"/>
              </a:ext>
            </a:extLst>
          </p:cNvPr>
          <p:cNvSpPr txBox="1"/>
          <p:nvPr/>
        </p:nvSpPr>
        <p:spPr>
          <a:xfrm>
            <a:off x="692887" y="5209900"/>
            <a:ext cx="2327721"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b="1" dirty="0">
                <a:solidFill>
                  <a:srgbClr val="FFFFFF"/>
                </a:solidFill>
                <a:latin typeface="Trebuchet MS"/>
                <a:ea typeface="Trebuchet MS"/>
                <a:cs typeface="Trebuchet MS"/>
                <a:sym typeface="Trebuchet MS"/>
              </a:rPr>
              <a:t>entire </a:t>
            </a:r>
            <a:r>
              <a:rPr lang="en-US" sz="2800" b="1" dirty="0" err="1">
                <a:solidFill>
                  <a:srgbClr val="FFFFFF"/>
                </a:solidFill>
                <a:latin typeface="Trebuchet MS"/>
                <a:ea typeface="Trebuchet MS"/>
                <a:cs typeface="Trebuchet MS"/>
                <a:sym typeface="Trebuchet MS"/>
              </a:rPr>
              <a:t>dataframe</a:t>
            </a:r>
            <a:endParaRPr sz="2800" dirty="0">
              <a:latin typeface="Trebuchet MS"/>
              <a:ea typeface="Trebuchet MS"/>
              <a:cs typeface="Trebuchet MS"/>
              <a:sym typeface="Trebuchet MS"/>
            </a:endParaRPr>
          </a:p>
        </p:txBody>
      </p:sp>
      <p:sp>
        <p:nvSpPr>
          <p:cNvPr id="9" name="Google Shape;172;p20">
            <a:extLst>
              <a:ext uri="{FF2B5EF4-FFF2-40B4-BE49-F238E27FC236}">
                <a16:creationId xmlns:a16="http://schemas.microsoft.com/office/drawing/2014/main" id="{0FB818E8-53E4-4DC1-06DA-7E08779FBB6D}"/>
              </a:ext>
            </a:extLst>
          </p:cNvPr>
          <p:cNvSpPr/>
          <p:nvPr/>
        </p:nvSpPr>
        <p:spPr>
          <a:xfrm>
            <a:off x="5694088" y="4487535"/>
            <a:ext cx="1977347"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a:p>
        </p:txBody>
      </p:sp>
      <p:sp>
        <p:nvSpPr>
          <p:cNvPr id="10" name="Google Shape;173;p20">
            <a:extLst>
              <a:ext uri="{FF2B5EF4-FFF2-40B4-BE49-F238E27FC236}">
                <a16:creationId xmlns:a16="http://schemas.microsoft.com/office/drawing/2014/main" id="{6BB9A3C9-920B-5DD9-BA88-7263F5EA65C4}"/>
              </a:ext>
            </a:extLst>
          </p:cNvPr>
          <p:cNvSpPr txBox="1"/>
          <p:nvPr/>
        </p:nvSpPr>
        <p:spPr>
          <a:xfrm>
            <a:off x="5927178" y="5353968"/>
            <a:ext cx="1658532" cy="1146391"/>
          </a:xfrm>
          <a:prstGeom prst="rect">
            <a:avLst/>
          </a:prstGeom>
          <a:noFill/>
          <a:ln>
            <a:noFill/>
          </a:ln>
        </p:spPr>
        <p:txBody>
          <a:bodyPr spcFirstLastPara="1" wrap="square" lIns="0" tIns="8504" rIns="0" bIns="0" anchor="ctr"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number of groups</a:t>
            </a:r>
            <a:endParaRPr sz="2800" dirty="0">
              <a:latin typeface="Trebuchet MS"/>
              <a:ea typeface="Trebuchet MS"/>
              <a:cs typeface="Trebuchet MS"/>
              <a:sym typeface="Trebuchet MS"/>
            </a:endParaRPr>
          </a:p>
        </p:txBody>
      </p:sp>
    </p:spTree>
    <p:extLst>
      <p:ext uri="{BB962C8B-B14F-4D97-AF65-F5344CB8AC3E}">
        <p14:creationId xmlns:p14="http://schemas.microsoft.com/office/powerpoint/2010/main" val="4041644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lstStyle/>
          <a:p>
            <a:r>
              <a:rPr lang="en-US" sz="5400" dirty="0" err="1">
                <a:solidFill>
                  <a:schemeClr val="tx1"/>
                </a:solidFill>
              </a:rPr>
              <a:t>group_by</a:t>
            </a:r>
            <a:r>
              <a:rPr lang="en-US" sz="5400" dirty="0">
                <a:solidFill>
                  <a:schemeClr val="tx1"/>
                </a:solidFill>
              </a:rPr>
              <a:t>() |&gt; summarize()</a:t>
            </a:r>
            <a:endParaRPr lang="en-US" dirty="0">
              <a:solidFill>
                <a:schemeClr val="tx1"/>
              </a:solidFill>
            </a:endParaRPr>
          </a:p>
        </p:txBody>
      </p:sp>
    </p:spTree>
    <p:extLst>
      <p:ext uri="{BB962C8B-B14F-4D97-AF65-F5344CB8AC3E}">
        <p14:creationId xmlns:p14="http://schemas.microsoft.com/office/powerpoint/2010/main" val="2827583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90984" y="758471"/>
            <a:ext cx="2468688" cy="923330"/>
          </a:xfrm>
          <a:prstGeom prst="rect">
            <a:avLst/>
          </a:prstGeom>
          <a:noFill/>
        </p:spPr>
        <p:txBody>
          <a:bodyPr wrap="none" rtlCol="0">
            <a:spAutoFit/>
          </a:bodyPr>
          <a:lstStyle/>
          <a:p>
            <a:pPr algn="ctr"/>
            <a:r>
              <a:rPr lang="en-US" sz="5400" dirty="0" err="1">
                <a:latin typeface="+mj-lt"/>
                <a:sym typeface="Calibri"/>
              </a:rPr>
              <a:t>group_by</a:t>
            </a:r>
            <a:r>
              <a:rPr lang="en-US" sz="5400" dirty="0">
                <a:latin typeface="+mj-lt"/>
                <a:sym typeface="Calibri"/>
              </a:rPr>
              <a:t>()</a:t>
            </a:r>
            <a:endParaRPr lang="en-US" sz="5400" dirty="0">
              <a:latin typeface="+mj-lt"/>
            </a:endParaRPr>
          </a:p>
        </p:txBody>
      </p:sp>
      <p:sp>
        <p:nvSpPr>
          <p:cNvPr id="8" name="TextBox 7"/>
          <p:cNvSpPr txBox="1"/>
          <p:nvPr/>
        </p:nvSpPr>
        <p:spPr>
          <a:xfrm>
            <a:off x="4694963" y="758471"/>
            <a:ext cx="2875531" cy="923330"/>
          </a:xfrm>
          <a:prstGeom prst="rect">
            <a:avLst/>
          </a:prstGeom>
          <a:noFill/>
        </p:spPr>
        <p:txBody>
          <a:bodyPr wrap="none" rtlCol="0">
            <a:spAutoFit/>
          </a:bodyPr>
          <a:lstStyle/>
          <a:p>
            <a:pPr algn="ctr"/>
            <a:r>
              <a:rPr lang="en-US" sz="5400" dirty="0">
                <a:latin typeface="+mj-lt"/>
                <a:sym typeface="Calibri"/>
              </a:rPr>
              <a:t>summarize</a:t>
            </a:r>
            <a:r>
              <a:rPr lang="en-US" sz="5400" dirty="0">
                <a:latin typeface="Calibri"/>
                <a:sym typeface="Calibri"/>
              </a:rPr>
              <a:t>()</a:t>
            </a:r>
            <a:endParaRPr lang="en-US" dirty="0"/>
          </a:p>
        </p:txBody>
      </p:sp>
      <p:sp>
        <p:nvSpPr>
          <p:cNvPr id="9" name="TextBox 8"/>
          <p:cNvSpPr txBox="1"/>
          <p:nvPr/>
        </p:nvSpPr>
        <p:spPr>
          <a:xfrm>
            <a:off x="3521410" y="831373"/>
            <a:ext cx="1011815" cy="923330"/>
          </a:xfrm>
          <a:prstGeom prst="rect">
            <a:avLst/>
          </a:prstGeom>
          <a:noFill/>
        </p:spPr>
        <p:txBody>
          <a:bodyPr wrap="none" rtlCol="0">
            <a:spAutoFit/>
          </a:bodyPr>
          <a:lstStyle/>
          <a:p>
            <a:r>
              <a:rPr lang="en-US" sz="5400" dirty="0">
                <a:latin typeface="+mj-lt"/>
                <a:sym typeface="Calibri"/>
              </a:rPr>
              <a:t>|&gt;</a:t>
            </a:r>
            <a:endParaRPr lang="en-US" sz="5400" dirty="0">
              <a:latin typeface="+mj-lt"/>
            </a:endParaRPr>
          </a:p>
        </p:txBody>
      </p:sp>
      <p:graphicFrame>
        <p:nvGraphicFramePr>
          <p:cNvPr id="3" name="Google Shape;154;p18"/>
          <p:cNvGraphicFramePr/>
          <p:nvPr/>
        </p:nvGraphicFramePr>
        <p:xfrm>
          <a:off x="1606351" y="2967054"/>
          <a:ext cx="2401947" cy="2690254"/>
        </p:xfrm>
        <a:graphic>
          <a:graphicData uri="http://schemas.openxmlformats.org/drawingml/2006/table">
            <a:tbl>
              <a:tblPr firstRow="1" bandRow="1">
                <a:noFill/>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4" name="Right Arrow 3"/>
          <p:cNvSpPr/>
          <p:nvPr/>
        </p:nvSpPr>
        <p:spPr>
          <a:xfrm>
            <a:off x="4268089" y="3960514"/>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8077727" y="4303413"/>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5350840" y="2931327"/>
            <a:ext cx="2476438" cy="2690254"/>
            <a:chOff x="4377469" y="1940727"/>
            <a:chExt cx="2476438" cy="2690254"/>
          </a:xfrm>
        </p:grpSpPr>
        <p:graphicFrame>
          <p:nvGraphicFramePr>
            <p:cNvPr id="5" name="Google Shape;154;p18"/>
            <p:cNvGraphicFramePr/>
            <p:nvPr/>
          </p:nvGraphicFramePr>
          <p:xfrm>
            <a:off x="4451960" y="1940727"/>
            <a:ext cx="2401947" cy="2690254"/>
          </p:xfrm>
          <a:graphic>
            <a:graphicData uri="http://schemas.openxmlformats.org/drawingml/2006/table">
              <a:tbl>
                <a:tblPr firstRow="1" bandRow="1">
                  <a:noFill/>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4377470" y="2241176"/>
              <a:ext cx="2476437" cy="896471"/>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ounded Rectangle 11"/>
            <p:cNvSpPr/>
            <p:nvPr/>
          </p:nvSpPr>
          <p:spPr>
            <a:xfrm>
              <a:off x="4377470" y="3122313"/>
              <a:ext cx="2476437" cy="685800"/>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ounded Rectangle 12"/>
            <p:cNvSpPr/>
            <p:nvPr/>
          </p:nvSpPr>
          <p:spPr>
            <a:xfrm>
              <a:off x="4377469" y="3808113"/>
              <a:ext cx="2476437" cy="754334"/>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aphicFrame>
        <p:nvGraphicFramePr>
          <p:cNvPr id="14" name="Google Shape;154;p18"/>
          <p:cNvGraphicFramePr/>
          <p:nvPr/>
        </p:nvGraphicFramePr>
        <p:xfrm>
          <a:off x="9169819" y="3482785"/>
          <a:ext cx="1409875" cy="1537288"/>
        </p:xfrm>
        <a:graphic>
          <a:graphicData uri="http://schemas.openxmlformats.org/drawingml/2006/table">
            <a:tbl>
              <a:tblPr firstRow="1" bandRow="1">
                <a:noFill/>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6"/>
                  </a:ext>
                </a:extLst>
              </a:tr>
            </a:tbl>
          </a:graphicData>
        </a:graphic>
      </p:graphicFrame>
      <p:sp>
        <p:nvSpPr>
          <p:cNvPr id="16"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7" name="Google Shape;296;p32"/>
          <p:cNvSpPr txBox="1"/>
          <p:nvPr/>
        </p:nvSpPr>
        <p:spPr>
          <a:xfrm>
            <a:off x="1510050" y="2115906"/>
            <a:ext cx="7411101" cy="890808"/>
          </a:xfrm>
          <a:prstGeom prst="rect">
            <a:avLst/>
          </a:prstGeom>
          <a:noFill/>
          <a:ln>
            <a:noFill/>
          </a:ln>
        </p:spPr>
        <p:txBody>
          <a:bodyPr spcFirstLastPara="1" wrap="square" lIns="0" tIns="6455" rIns="0" bIns="0" anchor="t" anchorCtr="0">
            <a:noAutofit/>
          </a:bodyPr>
          <a:lstStyle/>
          <a:p>
            <a:pPr marL="6803"/>
            <a:r>
              <a:rPr lang="en-US" sz="3600" dirty="0">
                <a:latin typeface="Calibri"/>
                <a:ea typeface="Calibri"/>
                <a:cs typeface="Calibri"/>
                <a:sym typeface="Calibri"/>
              </a:rPr>
              <a:t>Make summaries of your data </a:t>
            </a:r>
            <a:r>
              <a:rPr lang="en-US" sz="3600" i="1" dirty="0">
                <a:latin typeface="Calibri"/>
                <a:ea typeface="Calibri"/>
                <a:cs typeface="Calibri"/>
                <a:sym typeface="Calibri"/>
              </a:rPr>
              <a:t>by group</a:t>
            </a:r>
            <a:endParaRPr sz="3600" i="1" dirty="0">
              <a:latin typeface="Calibri"/>
              <a:ea typeface="Calibri"/>
              <a:cs typeface="Calibri"/>
              <a:sym typeface="Calibri"/>
            </a:endParaRPr>
          </a:p>
        </p:txBody>
      </p:sp>
      <p:sp>
        <p:nvSpPr>
          <p:cNvPr id="18" name="Right Arrow 17"/>
          <p:cNvSpPr/>
          <p:nvPr/>
        </p:nvSpPr>
        <p:spPr>
          <a:xfrm rot="611046">
            <a:off x="8077727" y="3682611"/>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20988954" flipV="1">
            <a:off x="8077727" y="4892854"/>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2260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2400300" y="2382161"/>
            <a:ext cx="6503815" cy="1450525"/>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extLst>
              <p:ext uri="{D42A27DB-BD31-4B8C-83A1-F6EECF244321}">
                <p14:modId xmlns:p14="http://schemas.microsoft.com/office/powerpoint/2010/main" val="1021269706"/>
              </p:ext>
            </p:extLst>
          </p:nvPr>
        </p:nvGraphicFramePr>
        <p:xfrm>
          <a:off x="2299233" y="4353872"/>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test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sodium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5001412</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potassium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bicarbonate</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5009134</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chloride</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6328301" y="4684083"/>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6" name="TextBox 25"/>
          <p:cNvSpPr txBox="1"/>
          <p:nvPr/>
        </p:nvSpPr>
        <p:spPr>
          <a:xfrm>
            <a:off x="815160" y="763285"/>
            <a:ext cx="6239272" cy="923330"/>
          </a:xfrm>
          <a:prstGeom prst="rect">
            <a:avLst/>
          </a:prstGeom>
          <a:noFill/>
        </p:spPr>
        <p:txBody>
          <a:bodyPr wrap="none" rtlCol="0">
            <a:spAutoFit/>
          </a:bodyPr>
          <a:lstStyle/>
          <a:p>
            <a:r>
              <a:rPr lang="en-US" sz="5400" dirty="0" err="1">
                <a:latin typeface="+mj-lt"/>
                <a:sym typeface="Calibri"/>
              </a:rPr>
              <a:t>group_by</a:t>
            </a:r>
            <a:r>
              <a:rPr lang="en-US" sz="5400" dirty="0">
                <a:latin typeface="+mj-lt"/>
                <a:sym typeface="Calibri"/>
              </a:rPr>
              <a:t>() |&gt; 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3874412971"/>
              </p:ext>
            </p:extLst>
          </p:nvPr>
        </p:nvGraphicFramePr>
        <p:xfrm>
          <a:off x="7054432" y="4353872"/>
          <a:ext cx="2051392" cy="861864"/>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test_count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1800" b="0" i="0" kern="1200" dirty="0">
                          <a:solidFill>
                            <a:schemeClr val="tx1"/>
                          </a:solidFill>
                          <a:effectLst/>
                          <a:latin typeface="+mn-lt"/>
                          <a:ea typeface="+mn-ea"/>
                          <a:cs typeface="+mn-cs"/>
                        </a:rPr>
                        <a:t>155554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4" name="Rectangle 13"/>
          <p:cNvSpPr/>
          <p:nvPr/>
        </p:nvSpPr>
        <p:spPr>
          <a:xfrm>
            <a:off x="2844092" y="2443142"/>
            <a:ext cx="6503815" cy="1323439"/>
          </a:xfrm>
          <a:prstGeom prst="rect">
            <a:avLst/>
          </a:prstGeom>
        </p:spPr>
        <p:txBody>
          <a:bodyPr wrap="square">
            <a:spAutoFit/>
          </a:bodyPr>
          <a:lstStyle/>
          <a:p>
            <a:r>
              <a:rPr lang="en-US" sz="2400" dirty="0">
                <a:latin typeface="Consolas" panose="020B0609020204030204" pitchFamily="49" charset="0"/>
                <a:ea typeface="Courier New"/>
                <a:cs typeface="Consolas" panose="020B0609020204030204" pitchFamily="49" charset="0"/>
                <a:sym typeface="Courier New"/>
              </a:rPr>
              <a:t>chem |&gt;</a:t>
            </a:r>
          </a:p>
          <a:p>
            <a:r>
              <a:rPr lang="en-US" sz="2400" dirty="0">
                <a:solidFill>
                  <a:srgbClr val="FF0000"/>
                </a:solidFill>
                <a:latin typeface="Consolas" panose="020B0609020204030204" pitchFamily="49" charset="0"/>
                <a:ea typeface="Courier New"/>
                <a:cs typeface="Consolas" panose="020B0609020204030204" pitchFamily="49" charset="0"/>
                <a:sym typeface="Courier New"/>
              </a:rPr>
              <a:t>	</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test_count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spTree>
    <p:extLst>
      <p:ext uri="{BB962C8B-B14F-4D97-AF65-F5344CB8AC3E}">
        <p14:creationId xmlns:p14="http://schemas.microsoft.com/office/powerpoint/2010/main" val="288509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2969821" y="2453532"/>
            <a:ext cx="6048449" cy="1489285"/>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extLst>
              <p:ext uri="{D42A27DB-BD31-4B8C-83A1-F6EECF244321}">
                <p14:modId xmlns:p14="http://schemas.microsoft.com/office/powerpoint/2010/main" val="1451127897"/>
              </p:ext>
            </p:extLst>
          </p:nvPr>
        </p:nvGraphicFramePr>
        <p:xfrm>
          <a:off x="1900244" y="4228890"/>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test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sodium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potassium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bicarbonate</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chloride</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5929312" y="5256636"/>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6" name="TextBox 25"/>
          <p:cNvSpPr txBox="1"/>
          <p:nvPr/>
        </p:nvSpPr>
        <p:spPr>
          <a:xfrm>
            <a:off x="815160" y="763285"/>
            <a:ext cx="6239272" cy="923330"/>
          </a:xfrm>
          <a:prstGeom prst="rect">
            <a:avLst/>
          </a:prstGeom>
          <a:noFill/>
        </p:spPr>
        <p:txBody>
          <a:bodyPr wrap="none" rtlCol="0">
            <a:spAutoFit/>
          </a:bodyPr>
          <a:lstStyle/>
          <a:p>
            <a:r>
              <a:rPr lang="en-US" sz="5400" dirty="0" err="1">
                <a:latin typeface="+mj-lt"/>
                <a:sym typeface="Calibri"/>
              </a:rPr>
              <a:t>group_by</a:t>
            </a:r>
            <a:r>
              <a:rPr lang="en-US" sz="5400" dirty="0">
                <a:latin typeface="+mj-lt"/>
                <a:sym typeface="Calibri"/>
              </a:rPr>
              <a:t>() |&gt; 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2856900"/>
              </p:ext>
            </p:extLst>
          </p:nvPr>
        </p:nvGraphicFramePr>
        <p:xfrm>
          <a:off x="8606339" y="4310789"/>
          <a:ext cx="2051392" cy="2139420"/>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test_count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778434246"/>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3860153828"/>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25789013"/>
                  </a:ext>
                </a:extLst>
              </a:tr>
            </a:tbl>
          </a:graphicData>
        </a:graphic>
      </p:graphicFrame>
      <p:sp>
        <p:nvSpPr>
          <p:cNvPr id="14" name="Rectangle 13"/>
          <p:cNvSpPr/>
          <p:nvPr/>
        </p:nvSpPr>
        <p:spPr>
          <a:xfrm>
            <a:off x="2969821" y="2453532"/>
            <a:ext cx="6252355" cy="1323439"/>
          </a:xfrm>
          <a:prstGeom prst="rect">
            <a:avLst/>
          </a:prstGeom>
        </p:spPr>
        <p:txBody>
          <a:bodyPr wrap="square">
            <a:spAutoFit/>
          </a:bodyPr>
          <a:lstStyle/>
          <a:p>
            <a:r>
              <a:rPr lang="en-US" sz="2400" dirty="0">
                <a:latin typeface="Consolas" panose="020B0609020204030204" pitchFamily="49" charset="0"/>
                <a:ea typeface="Courier New"/>
                <a:cs typeface="Consolas" panose="020B0609020204030204" pitchFamily="49" charset="0"/>
                <a:sym typeface="Courier New"/>
              </a:rPr>
              <a:t>chem |&gt;</a:t>
            </a:r>
          </a:p>
          <a:p>
            <a:r>
              <a:rPr lang="en-US" sz="2400" dirty="0">
                <a:solidFill>
                  <a:srgbClr val="FF0000"/>
                </a:solidFill>
                <a:latin typeface="Consolas" panose="020B0609020204030204" pitchFamily="49" charset="0"/>
                <a:ea typeface="Courier New"/>
                <a:cs typeface="Consolas" panose="020B0609020204030204" pitchFamily="49" charset="0"/>
                <a:sym typeface="Courier New"/>
              </a:rPr>
              <a:t>	</a:t>
            </a:r>
            <a:r>
              <a:rPr lang="en-US" sz="2400" dirty="0" err="1">
                <a:solidFill>
                  <a:srgbClr val="FF0000"/>
                </a:solidFill>
                <a:latin typeface="Consolas" panose="020B0609020204030204" pitchFamily="49" charset="0"/>
                <a:ea typeface="Courier New"/>
                <a:cs typeface="Consolas" panose="020B0609020204030204" pitchFamily="49" charset="0"/>
                <a:sym typeface="Courier New"/>
              </a:rPr>
              <a:t>group_by</a:t>
            </a:r>
            <a:r>
              <a:rPr lang="en-US" sz="2400" dirty="0">
                <a:solidFill>
                  <a:srgbClr val="FF0000"/>
                </a:solidFill>
                <a:latin typeface="Consolas" panose="020B0609020204030204" pitchFamily="49" charset="0"/>
                <a:ea typeface="Courier New"/>
                <a:cs typeface="Consolas" panose="020B0609020204030204" pitchFamily="49" charset="0"/>
                <a:sym typeface="Courier New"/>
              </a:rPr>
              <a:t>(</a:t>
            </a:r>
            <a:r>
              <a:rPr lang="en-US" sz="2400" dirty="0" err="1">
                <a:solidFill>
                  <a:srgbClr val="FF0000"/>
                </a:solidFill>
                <a:latin typeface="Consolas" panose="020B0609020204030204" pitchFamily="49" charset="0"/>
                <a:ea typeface="Courier New"/>
                <a:cs typeface="Consolas" panose="020B0609020204030204" pitchFamily="49" charset="0"/>
                <a:sym typeface="Courier New"/>
              </a:rPr>
              <a:t>mrn</a:t>
            </a:r>
            <a:r>
              <a:rPr lang="en-US" sz="2400" dirty="0">
                <a:solidFill>
                  <a:srgbClr val="FF0000"/>
                </a:solidFill>
                <a:latin typeface="Consolas" panose="020B0609020204030204" pitchFamily="49" charset="0"/>
                <a:ea typeface="Courier New"/>
                <a:cs typeface="Consolas" panose="020B0609020204030204" pitchFamily="49" charset="0"/>
                <a:sym typeface="Courier New"/>
              </a:rPr>
              <a:t>)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test_count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graphicFrame>
        <p:nvGraphicFramePr>
          <p:cNvPr id="10" name="Table 9">
            <a:extLst>
              <a:ext uri="{FF2B5EF4-FFF2-40B4-BE49-F238E27FC236}">
                <a16:creationId xmlns:a16="http://schemas.microsoft.com/office/drawing/2014/main" id="{F3C7F4C9-73FF-1A4B-95FE-6EB57DA1E636}"/>
              </a:ext>
            </a:extLst>
          </p:cNvPr>
          <p:cNvGraphicFramePr>
            <a:graphicFrameLocks noGrp="1"/>
          </p:cNvGraphicFramePr>
          <p:nvPr>
            <p:extLst>
              <p:ext uri="{D42A27DB-BD31-4B8C-83A1-F6EECF244321}">
                <p14:modId xmlns:p14="http://schemas.microsoft.com/office/powerpoint/2010/main" val="1819662265"/>
              </p:ext>
            </p:extLst>
          </p:nvPr>
        </p:nvGraphicFramePr>
        <p:xfrm>
          <a:off x="6554947" y="4302888"/>
          <a:ext cx="2051392" cy="2139420"/>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1394885157"/>
                  </a:ext>
                </a:extLst>
              </a:tr>
              <a:tr h="370840">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3362528972"/>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3121703329"/>
                  </a:ext>
                </a:extLst>
              </a:tr>
            </a:tbl>
          </a:graphicData>
        </a:graphic>
      </p:graphicFrame>
    </p:spTree>
    <p:extLst>
      <p:ext uri="{BB962C8B-B14F-4D97-AF65-F5344CB8AC3E}">
        <p14:creationId xmlns:p14="http://schemas.microsoft.com/office/powerpoint/2010/main" val="88286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6A2D24-E81A-8241-8BE4-10C628CAAAB4}"/>
              </a:ext>
            </a:extLst>
          </p:cNvPr>
          <p:cNvSpPr>
            <a:spLocks noGrp="1"/>
          </p:cNvSpPr>
          <p:nvPr>
            <p:ph type="title"/>
          </p:nvPr>
        </p:nvSpPr>
        <p:spPr/>
        <p:txBody>
          <a:bodyPr/>
          <a:lstStyle/>
          <a:p>
            <a:r>
              <a:rPr lang="en-US" dirty="0"/>
              <a:t>Your Turn</a:t>
            </a:r>
          </a:p>
        </p:txBody>
      </p:sp>
      <p:sp>
        <p:nvSpPr>
          <p:cNvPr id="5" name="Text Placeholder 2">
            <a:extLst>
              <a:ext uri="{FF2B5EF4-FFF2-40B4-BE49-F238E27FC236}">
                <a16:creationId xmlns:a16="http://schemas.microsoft.com/office/drawing/2014/main" id="{0F8623C7-1227-A04A-B096-498B1A18A501}"/>
              </a:ext>
            </a:extLst>
          </p:cNvPr>
          <p:cNvSpPr txBox="1">
            <a:spLocks/>
          </p:cNvSpPr>
          <p:nvPr/>
        </p:nvSpPr>
        <p:spPr>
          <a:xfrm>
            <a:off x="541176" y="2390775"/>
            <a:ext cx="11220294" cy="3979545"/>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4800" kern="1200">
                <a:solidFill>
                  <a:schemeClr val="accent4">
                    <a:lumMod val="75000"/>
                  </a:schemeClr>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914400" indent="-914400">
              <a:buFont typeface="+mj-lt"/>
              <a:buAutoNum type="arabicPeriod"/>
            </a:pPr>
            <a:r>
              <a:rPr lang="en-US" dirty="0"/>
              <a:t>Complete the Grouping and Summarizing section</a:t>
            </a:r>
          </a:p>
          <a:p>
            <a:pPr marL="914400" indent="-914400">
              <a:buFont typeface="+mj-lt"/>
              <a:buAutoNum type="arabicPeriod"/>
            </a:pPr>
            <a:r>
              <a:rPr lang="en-US" dirty="0"/>
              <a:t>Sticky up when done </a:t>
            </a:r>
          </a:p>
        </p:txBody>
      </p:sp>
    </p:spTree>
    <p:extLst>
      <p:ext uri="{BB962C8B-B14F-4D97-AF65-F5344CB8AC3E}">
        <p14:creationId xmlns:p14="http://schemas.microsoft.com/office/powerpoint/2010/main" val="6788609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864C1-603E-8842-AE96-D3526096E32C}"/>
              </a:ext>
            </a:extLst>
          </p:cNvPr>
          <p:cNvSpPr>
            <a:spLocks noGrp="1"/>
          </p:cNvSpPr>
          <p:nvPr>
            <p:ph idx="4294967295"/>
          </p:nvPr>
        </p:nvSpPr>
        <p:spPr>
          <a:xfrm>
            <a:off x="497305" y="1663700"/>
            <a:ext cx="11309213" cy="4618205"/>
          </a:xfrm>
        </p:spPr>
        <p:txBody>
          <a:bodyPr>
            <a:normAutofit/>
          </a:bodyPr>
          <a:lstStyle/>
          <a:p>
            <a:pPr marL="0" indent="0">
              <a:buNone/>
            </a:pPr>
            <a:r>
              <a:rPr lang="en-US" sz="3200" b="1" dirty="0"/>
              <a:t>Summarize() </a:t>
            </a:r>
            <a:r>
              <a:rPr lang="en-US" sz="3200" dirty="0"/>
              <a:t>is a function that enables us to calculate summaries of variables (columns).  </a:t>
            </a:r>
          </a:p>
          <a:p>
            <a:pPr marL="0" indent="0">
              <a:buNone/>
            </a:pPr>
            <a:r>
              <a:rPr lang="en-US" sz="3200" dirty="0"/>
              <a:t>Common summary activities include counting observations using </a:t>
            </a:r>
            <a:r>
              <a:rPr lang="en-US" sz="3200" b="1" dirty="0"/>
              <a:t>n()</a:t>
            </a:r>
            <a:r>
              <a:rPr lang="en-US" sz="3200" dirty="0"/>
              <a:t>, counting unique observations using </a:t>
            </a:r>
            <a:r>
              <a:rPr lang="en-US" sz="3200" b="1" dirty="0" err="1"/>
              <a:t>n_distinct</a:t>
            </a:r>
            <a:r>
              <a:rPr lang="en-US" sz="3200" b="1" dirty="0"/>
              <a:t>()</a:t>
            </a:r>
            <a:r>
              <a:rPr lang="en-US" sz="3200" dirty="0"/>
              <a:t>, and calculating means using </a:t>
            </a:r>
            <a:r>
              <a:rPr lang="en-US" sz="3200" b="1" dirty="0"/>
              <a:t>mean()</a:t>
            </a:r>
            <a:r>
              <a:rPr lang="en-US" sz="3200" dirty="0"/>
              <a:t>.</a:t>
            </a:r>
          </a:p>
          <a:p>
            <a:pPr marL="0" indent="0">
              <a:buNone/>
            </a:pPr>
            <a:r>
              <a:rPr lang="en-US" sz="3200" b="1" dirty="0" err="1"/>
              <a:t>Group_by</a:t>
            </a:r>
            <a:r>
              <a:rPr lang="en-US" sz="3200" b="1" dirty="0"/>
              <a:t>()</a:t>
            </a:r>
            <a:r>
              <a:rPr lang="en-US" sz="3200" dirty="0"/>
              <a:t> is a function that enables us to create subsets of data by a variable.  Data can also be grouped by multiple variables.</a:t>
            </a:r>
          </a:p>
          <a:p>
            <a:pPr marL="0" indent="0">
              <a:buNone/>
            </a:pPr>
            <a:r>
              <a:rPr lang="en-US" sz="3200" dirty="0"/>
              <a:t>Combining the </a:t>
            </a:r>
            <a:r>
              <a:rPr lang="en-US" sz="3200" b="1" dirty="0" err="1"/>
              <a:t>group_by</a:t>
            </a:r>
            <a:r>
              <a:rPr lang="en-US" sz="3200" b="1" dirty="0"/>
              <a:t>()</a:t>
            </a:r>
            <a:r>
              <a:rPr lang="en-US" sz="3200" dirty="0"/>
              <a:t> and </a:t>
            </a:r>
            <a:r>
              <a:rPr lang="en-US" sz="3200" b="1" dirty="0"/>
              <a:t>summarize()</a:t>
            </a:r>
            <a:r>
              <a:rPr lang="en-US" sz="3200" dirty="0"/>
              <a:t> functions is a powerful way to look at summarizations across groups.</a:t>
            </a:r>
          </a:p>
        </p:txBody>
      </p:sp>
      <p:sp>
        <p:nvSpPr>
          <p:cNvPr id="4" name="object 10">
            <a:extLst>
              <a:ext uri="{FF2B5EF4-FFF2-40B4-BE49-F238E27FC236}">
                <a16:creationId xmlns:a16="http://schemas.microsoft.com/office/drawing/2014/main" id="{76AF4A87-DBFF-1B44-A044-1B865727C039}"/>
              </a:ext>
            </a:extLst>
          </p:cNvPr>
          <p:cNvSpPr txBox="1"/>
          <p:nvPr/>
        </p:nvSpPr>
        <p:spPr>
          <a:xfrm>
            <a:off x="1765568" y="576094"/>
            <a:ext cx="9018175"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Recap</a:t>
            </a:r>
            <a:endParaRPr sz="4400" dirty="0">
              <a:latin typeface="Tw Cen MT" panose="020B0602020104020603" pitchFamily="34" charset="77"/>
              <a:cs typeface="Helvetica Neue"/>
            </a:endParaRPr>
          </a:p>
        </p:txBody>
      </p:sp>
    </p:spTree>
    <p:extLst>
      <p:ext uri="{BB962C8B-B14F-4D97-AF65-F5344CB8AC3E}">
        <p14:creationId xmlns:p14="http://schemas.microsoft.com/office/powerpoint/2010/main" val="24897169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What else?</a:t>
            </a:r>
          </a:p>
        </p:txBody>
      </p:sp>
    </p:spTree>
    <p:extLst>
      <p:ext uri="{BB962C8B-B14F-4D97-AF65-F5344CB8AC3E}">
        <p14:creationId xmlns:p14="http://schemas.microsoft.com/office/powerpoint/2010/main" val="3297111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366D9F7-9C44-AA49-B3D0-BB47897423A0}"/>
              </a:ext>
            </a:extLst>
          </p:cNvPr>
          <p:cNvPicPr>
            <a:picLocks noChangeAspect="1"/>
          </p:cNvPicPr>
          <p:nvPr/>
        </p:nvPicPr>
        <p:blipFill>
          <a:blip r:embed="rId3"/>
          <a:stretch>
            <a:fillRect/>
          </a:stretch>
        </p:blipFill>
        <p:spPr>
          <a:xfrm>
            <a:off x="1780513" y="134714"/>
            <a:ext cx="8630973" cy="6588572"/>
          </a:xfrm>
          <a:prstGeom prst="rect">
            <a:avLst/>
          </a:prstGeom>
        </p:spPr>
      </p:pic>
    </p:spTree>
    <p:extLst>
      <p:ext uri="{BB962C8B-B14F-4D97-AF65-F5344CB8AC3E}">
        <p14:creationId xmlns:p14="http://schemas.microsoft.com/office/powerpoint/2010/main" val="4136216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36074"/>
            <a:ext cx="10939550" cy="6385851"/>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3200" kern="100" dirty="0">
                <a:effectLst/>
                <a:ea typeface="Calibri" panose="020F0502020204030204" pitchFamily="34" charset="0"/>
                <a:cs typeface="Arial" panose="020B0604020202020204" pitchFamily="34" charset="0"/>
              </a:rPr>
              <a:t>Construct a table that summarizes basic statistics (e.g., count, proportion, mean, range) of a dataset and its subgroups</a:t>
            </a:r>
          </a:p>
          <a:p>
            <a:pPr marL="342900" indent="-342900">
              <a:lnSpc>
                <a:spcPct val="107000"/>
              </a:lnSpc>
              <a:buFont typeface="+mj-lt"/>
              <a:buAutoNum type="arabicPeriod"/>
            </a:pPr>
            <a:r>
              <a:rPr lang="en-US" sz="3200" kern="100" dirty="0">
                <a:effectLst/>
                <a:ea typeface="Calibri" panose="020F0502020204030204" pitchFamily="34" charset="0"/>
                <a:cs typeface="Arial" panose="020B0604020202020204" pitchFamily="34" charset="0"/>
              </a:rPr>
              <a:t>Utilize programming and software tools to facilitate efficient, reproducible, and transparent data analytics workflows</a:t>
            </a:r>
            <a:endParaRPr lang="en-US" sz="3200" dirty="0"/>
          </a:p>
          <a:p>
            <a:r>
              <a:rPr lang="en-US" sz="4000" dirty="0"/>
              <a:t>Lesson Objectives</a:t>
            </a:r>
          </a:p>
          <a:p>
            <a:pPr marL="457200" indent="-457200">
              <a:buFont typeface="+mj-lt"/>
              <a:buAutoNum type="arabicPeriod"/>
            </a:pPr>
            <a:r>
              <a:rPr lang="en-US" sz="3200" dirty="0"/>
              <a:t>Link sequential data analysis steps together using the pipe operator to improve readability</a:t>
            </a:r>
          </a:p>
          <a:p>
            <a:pPr marL="457200" indent="-457200">
              <a:lnSpc>
                <a:spcPct val="100000"/>
              </a:lnSpc>
              <a:spcBef>
                <a:spcPts val="0"/>
              </a:spcBef>
              <a:spcAft>
                <a:spcPts val="0"/>
              </a:spcAft>
              <a:buClrTx/>
              <a:buSzTx/>
              <a:buFont typeface="+mj-lt"/>
              <a:buAutoNum type="arabicPeriod"/>
            </a:pPr>
            <a:r>
              <a:rPr lang="en-US" sz="3200" dirty="0"/>
              <a:t>Calculate a summary statistic for a variable using the summarize() function</a:t>
            </a:r>
          </a:p>
          <a:p>
            <a:pPr marL="457200" indent="-457200">
              <a:lnSpc>
                <a:spcPct val="100000"/>
              </a:lnSpc>
              <a:spcBef>
                <a:spcPts val="0"/>
              </a:spcBef>
              <a:spcAft>
                <a:spcPts val="0"/>
              </a:spcAft>
              <a:buClrTx/>
              <a:buSzTx/>
              <a:buFont typeface="+mj-lt"/>
              <a:buAutoNum type="arabicPeriod"/>
            </a:pPr>
            <a:r>
              <a:rPr lang="en-US" sz="3200" dirty="0"/>
              <a:t>Combine </a:t>
            </a:r>
            <a:r>
              <a:rPr lang="en-US" sz="3200" dirty="0" err="1"/>
              <a:t>group_by</a:t>
            </a:r>
            <a:r>
              <a:rPr lang="en-US" sz="3200" dirty="0"/>
              <a:t>() and summarize() functions to calculate summary statistics for groups of data</a:t>
            </a:r>
          </a:p>
        </p:txBody>
      </p:sp>
    </p:spTree>
    <p:extLst>
      <p:ext uri="{BB962C8B-B14F-4D97-AF65-F5344CB8AC3E}">
        <p14:creationId xmlns:p14="http://schemas.microsoft.com/office/powerpoint/2010/main" val="38234969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18914</TotalTime>
  <Words>2302</Words>
  <Application>Microsoft Macintosh PowerPoint</Application>
  <PresentationFormat>Widescreen</PresentationFormat>
  <Paragraphs>334</Paragraphs>
  <Slides>37</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vt:lpstr>
      <vt:lpstr>Calibri</vt:lpstr>
      <vt:lpstr>Consolas</vt:lpstr>
      <vt:lpstr>Monaco</vt:lpstr>
      <vt:lpstr>Times New Roman</vt:lpstr>
      <vt:lpstr>Trebuchet MS</vt:lpstr>
      <vt:lpstr>Tw Cen MT</vt:lpstr>
      <vt:lpstr>Tw Cen MT Condensed</vt:lpstr>
      <vt:lpstr>Wingdings</vt:lpstr>
      <vt:lpstr>Wingdings 3</vt:lpstr>
      <vt:lpstr>Integral</vt:lpstr>
      <vt:lpstr>Grouping and Summarizing Data</vt:lpstr>
      <vt:lpstr>Lesson Prep</vt:lpstr>
      <vt:lpstr>PowerPoint Presentation</vt:lpstr>
      <vt:lpstr>Typical Data Science Pipeline</vt:lpstr>
      <vt:lpstr>Piping Data from One Row to the Next</vt:lpstr>
      <vt:lpstr>Reviewing turnaround times</vt:lpstr>
      <vt:lpstr>Data Analysis Steps</vt:lpstr>
      <vt:lpstr>Reviewing turnaround times</vt:lpstr>
      <vt:lpstr>Data Analysis Steps</vt:lpstr>
      <vt:lpstr>The Pipe Operator |&gt;</vt:lpstr>
      <vt:lpstr>Data Analysis Steps</vt:lpstr>
      <vt:lpstr>Shortcut to type |&gt; </vt:lpstr>
      <vt:lpstr>Your Turn</vt:lpstr>
      <vt:lpstr>Summarize the data set</vt:lpstr>
      <vt:lpstr>Q: What is the average sodium value?</vt:lpstr>
      <vt:lpstr>PowerPoint Presentation</vt:lpstr>
      <vt:lpstr>PowerPoint Presentation</vt:lpstr>
      <vt:lpstr>PowerPoint Presentation</vt:lpstr>
      <vt:lpstr>PowerPoint Presentation</vt:lpstr>
      <vt:lpstr>PowerPoint Presentation</vt:lpstr>
      <vt:lpstr>Your Turn</vt:lpstr>
      <vt:lpstr>PowerPoint Presentation</vt:lpstr>
      <vt:lpstr>Calculate the mean turnaround time</vt:lpstr>
      <vt:lpstr>Calculate the 75th percentile turnaround time</vt:lpstr>
      <vt:lpstr>Grouping your data</vt:lpstr>
      <vt:lpstr>PowerPoint Presentation</vt:lpstr>
      <vt:lpstr>PowerPoint Presentation</vt:lpstr>
      <vt:lpstr>PowerPoint Presentation</vt:lpstr>
      <vt:lpstr>group_by() |&gt; summarize()</vt:lpstr>
      <vt:lpstr>PowerPoint Presentation</vt:lpstr>
      <vt:lpstr>PowerPoint Presentation</vt:lpstr>
      <vt:lpstr>PowerPoint Presentation</vt:lpstr>
      <vt:lpstr>Your Turn</vt:lpstr>
      <vt:lpstr>PowerPoint Presentation</vt:lpstr>
      <vt:lpstr>What else?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Medical Doctors  Reproducible Clinical Data Analysis</dc:title>
  <dc:creator>Kadauke, Stephan,M.D.</dc:creator>
  <cp:lastModifiedBy>Patrick C Mathias</cp:lastModifiedBy>
  <cp:revision>726</cp:revision>
  <cp:lastPrinted>2020-07-14T03:12:28Z</cp:lastPrinted>
  <dcterms:created xsi:type="dcterms:W3CDTF">2018-02-01T22:00:01Z</dcterms:created>
  <dcterms:modified xsi:type="dcterms:W3CDTF">2026-07-07T20:38:13Z</dcterms:modified>
</cp:coreProperties>
</file>